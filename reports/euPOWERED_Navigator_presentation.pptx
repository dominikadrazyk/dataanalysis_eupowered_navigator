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Play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01">
          <p15:clr>
            <a:srgbClr val="747775"/>
          </p15:clr>
        </p15:guide>
        <p15:guide id="2" pos="268">
          <p15:clr>
            <a:srgbClr val="747775"/>
          </p15:clr>
        </p15:guide>
        <p15:guide id="3" pos="6175">
          <p15:clr>
            <a:srgbClr val="747775"/>
          </p15:clr>
        </p15:guide>
        <p15:guide id="4" orient="horz" pos="3893">
          <p15:clr>
            <a:srgbClr val="747775"/>
          </p15:clr>
        </p15:guide>
      </p15:sldGuideLst>
    </p:ext>
    <p:ext uri="GoogleSlidesCustomDataVersion2">
      <go:slidesCustomData xmlns:go="http://customooxmlschemas.google.com/" r:id="rId28" roundtripDataSignature="AMtx7mgrawg+OKqR+Eas4JoMDIdE6D51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01" orient="horz"/>
        <p:guide pos="268"/>
        <p:guide pos="6175"/>
        <p:guide pos="389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-regular.fntdata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4602f084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d4602f0849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4602f084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d4602f0849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4602f0849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d4602f0849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2a6c2236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d2a6c2236b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4602f0849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d4602f0849_0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4602f0849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d4602f0849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4602f0849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d4602f0849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4602f0849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d4602f0849_0_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4602f0849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d4602f0849_0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4602f0849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d4602f0849_0_2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4602f0849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d4602f0849_0_2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4602f084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3d4602f0849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4602f084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3d4602f0849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2a6c2236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g3d2a6c2236b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9.jp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c.europa.eu/eurostat/databrowser/view/ten00124/" TargetMode="External"/><Relationship Id="rId4" Type="http://schemas.openxmlformats.org/officeDocument/2006/relationships/hyperlink" Target="https://ec.europa.eu/eurostat/databrowser/view/nrg_ind_ren/" TargetMode="External"/><Relationship Id="rId5" Type="http://schemas.openxmlformats.org/officeDocument/2006/relationships/hyperlink" Target="https://ec.europa.eu/eurostat/databrowser/view/nrg_pc_204/" TargetMode="External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8588189" y="5609121"/>
            <a:ext cx="2938200" cy="843600"/>
          </a:xfrm>
          <a:prstGeom prst="rect">
            <a:avLst/>
          </a:prstGeom>
          <a:solidFill>
            <a:srgbClr val="0421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7986" y="2834947"/>
            <a:ext cx="10740600" cy="20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-PL" sz="1800">
                <a:solidFill>
                  <a:srgbClr val="042125"/>
                </a:solidFill>
              </a:rPr>
              <a:t>The comprehensive roadmap for the European energy transition.</a:t>
            </a:r>
            <a:br>
              <a:rPr lang="pl-PL" sz="1800">
                <a:solidFill>
                  <a:srgbClr val="042125"/>
                </a:solidFill>
              </a:rPr>
            </a:br>
            <a:br>
              <a:rPr lang="pl-PL" sz="1800">
                <a:solidFill>
                  <a:srgbClr val="042125"/>
                </a:solidFill>
              </a:rPr>
            </a:br>
            <a:r>
              <a:rPr lang="pl-PL" sz="1800">
                <a:solidFill>
                  <a:srgbClr val="042125"/>
                </a:solidFill>
              </a:rPr>
              <a:t>It provides lobbyists and policy advocates with the empirical evidence </a:t>
            </a:r>
            <a:br>
              <a:rPr lang="pl-PL" sz="1800">
                <a:solidFill>
                  <a:srgbClr val="042125"/>
                </a:solidFill>
              </a:rPr>
            </a:br>
            <a:r>
              <a:rPr lang="pl-PL" sz="1800">
                <a:solidFill>
                  <a:srgbClr val="042125"/>
                </a:solidFill>
              </a:rPr>
              <a:t>needed to </a:t>
            </a:r>
            <a:r>
              <a:rPr b="1" lang="pl-PL" sz="1800">
                <a:solidFill>
                  <a:srgbClr val="042125"/>
                </a:solidFill>
              </a:rPr>
              <a:t>bridge the gap between climate ambition and </a:t>
            </a:r>
            <a:r>
              <a:rPr b="1" lang="pl-PL" sz="1800">
                <a:solidFill>
                  <a:srgbClr val="B4B63B"/>
                </a:solidFill>
              </a:rPr>
              <a:t>economic reality</a:t>
            </a:r>
            <a:r>
              <a:rPr lang="pl-PL" sz="1800">
                <a:solidFill>
                  <a:srgbClr val="042125"/>
                </a:solidFill>
              </a:rPr>
              <a:t>.</a:t>
            </a:r>
            <a:endParaRPr sz="1800">
              <a:solidFill>
                <a:srgbClr val="042125"/>
              </a:solidFill>
            </a:endParaRPr>
          </a:p>
        </p:txBody>
      </p:sp>
      <p:pic>
        <p:nvPicPr>
          <p:cNvPr descr="Learning Python » Khmer168.com – Your Source for IT Knowledge, Comparisons,  Best Practices, and ICT Insights in Cambodia Ratana SOTH - the IT Geek in  Cambodia" id="86" name="Google Shape;86;p1"/>
          <p:cNvPicPr preferRelativeResize="0"/>
          <p:nvPr/>
        </p:nvPicPr>
        <p:blipFill rotWithShape="1">
          <a:blip r:embed="rId3">
            <a:alphaModFix/>
          </a:blip>
          <a:srcRect b="0" l="23473" r="20891" t="0"/>
          <a:stretch/>
        </p:blipFill>
        <p:spPr>
          <a:xfrm>
            <a:off x="2361225" y="5671876"/>
            <a:ext cx="769088" cy="777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t Reviews 2025: Details, Pricing, &amp; Features | G2" id="87" name="Google Shape;87;p1"/>
          <p:cNvPicPr preferRelativeResize="0"/>
          <p:nvPr/>
        </p:nvPicPr>
        <p:blipFill rotWithShape="1">
          <a:blip r:embed="rId4">
            <a:alphaModFix/>
          </a:blip>
          <a:srcRect b="28887" l="29890" r="26379" t="25055"/>
          <a:stretch/>
        </p:blipFill>
        <p:spPr>
          <a:xfrm>
            <a:off x="3208969" y="5848801"/>
            <a:ext cx="949698" cy="525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at is GitHub? Beginner Guide For GitHub | by Ishara Madusanka | MS Club  of SLIIT | Medium" id="88" name="Google Shape;88;p1"/>
          <p:cNvPicPr preferRelativeResize="0"/>
          <p:nvPr/>
        </p:nvPicPr>
        <p:blipFill rotWithShape="1">
          <a:blip r:embed="rId5">
            <a:alphaModFix/>
          </a:blip>
          <a:srcRect b="17077" l="5208" r="7699" t="17619"/>
          <a:stretch/>
        </p:blipFill>
        <p:spPr>
          <a:xfrm>
            <a:off x="4158667" y="5803165"/>
            <a:ext cx="1461303" cy="61638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723762" y="342453"/>
            <a:ext cx="10781100" cy="108000"/>
          </a:xfrm>
          <a:prstGeom prst="rect">
            <a:avLst/>
          </a:prstGeom>
          <a:solidFill>
            <a:srgbClr val="B4B63B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8E1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874100" y="2092100"/>
            <a:ext cx="8443800" cy="108000"/>
          </a:xfrm>
          <a:prstGeom prst="rect">
            <a:avLst/>
          </a:prstGeom>
          <a:solidFill>
            <a:srgbClr val="B4B63B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624102" y="5609136"/>
            <a:ext cx="29382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</a:pPr>
            <a:r>
              <a:rPr b="1" i="0" lang="pl-PL" sz="1900" u="none" cap="none" strike="noStrike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BY DOMINIKA DRĄŻYK</a:t>
            </a:r>
            <a:br>
              <a:rPr b="1" i="0" lang="pl-PL" sz="1900" u="none" cap="none" strike="noStrike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l-PL" sz="1900">
                <a:solidFill>
                  <a:srgbClr val="F0F6FC"/>
                </a:solidFill>
              </a:rPr>
              <a:t>APRIL</a:t>
            </a:r>
            <a:r>
              <a:rPr b="1" i="0" lang="pl-PL" sz="1900" u="none" cap="none" strike="noStrike">
                <a:solidFill>
                  <a:srgbClr val="F0F6FC"/>
                </a:solidFill>
                <a:latin typeface="Arial"/>
                <a:ea typeface="Arial"/>
                <a:cs typeface="Arial"/>
                <a:sym typeface="Arial"/>
              </a:rPr>
              <a:t>, 2026</a:t>
            </a:r>
            <a:endParaRPr b="0" i="0" sz="1900" u="none" cap="none" strike="noStrike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8588189" y="6432320"/>
            <a:ext cx="2938200" cy="108000"/>
          </a:xfrm>
          <a:prstGeom prst="rect">
            <a:avLst/>
          </a:prstGeom>
          <a:solidFill>
            <a:srgbClr val="B4B63B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0450" y="602853"/>
            <a:ext cx="9911108" cy="1336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13468" y="5676111"/>
            <a:ext cx="769100" cy="7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9800" y="5733137"/>
            <a:ext cx="655026" cy="65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25253" y="677504"/>
            <a:ext cx="5670748" cy="120355"/>
          </a:xfrm>
          <a:prstGeom prst="rect">
            <a:avLst/>
          </a:prstGeom>
          <a:solidFill>
            <a:srgbClr val="808E9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344570" y="154284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l-P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25251" y="1066922"/>
            <a:ext cx="5670600" cy="4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l-PL" sz="1600">
                <a:solidFill>
                  <a:schemeClr val="dk1"/>
                </a:solidFill>
              </a:rPr>
              <a:t>This strategic data engine is designed to transform complex Eurostat datasets into actionable political leverage in the </a:t>
            </a:r>
            <a:r>
              <a:rPr b="1" lang="pl-PL" sz="1600">
                <a:solidFill>
                  <a:srgbClr val="042125"/>
                </a:solidFill>
              </a:rPr>
              <a:t>Renewable Energy</a:t>
            </a:r>
            <a:r>
              <a:rPr lang="pl-PL" sz="1600">
                <a:solidFill>
                  <a:schemeClr val="dk1"/>
                </a:solidFill>
              </a:rPr>
              <a:t> discourse.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pl-PL" sz="29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〽</a:t>
            </a:r>
            <a:r>
              <a:rPr b="0" i="0" lang="pl-PL" sz="18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️</a:t>
            </a:r>
            <a:r>
              <a:rPr b="0" i="0" lang="pl-P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600">
                <a:solidFill>
                  <a:srgbClr val="B4B63B"/>
                </a:solidFill>
              </a:rPr>
              <a:t>INTENDED AUDIENCE</a:t>
            </a:r>
            <a:endParaRPr b="0" i="0" sz="1600" u="none" cap="none" strike="noStrike">
              <a:solidFill>
                <a:srgbClr val="B4B6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pl-PL" sz="1600">
                <a:solidFill>
                  <a:srgbClr val="042125"/>
                </a:solidFill>
              </a:rPr>
              <a:t>Lobbyists:</a:t>
            </a:r>
            <a:r>
              <a:rPr lang="pl-PL" sz="1600">
                <a:solidFill>
                  <a:schemeClr val="dk1"/>
                </a:solidFill>
              </a:rPr>
              <a:t> seeking to anchor their renewable energy pitches in validated, cross-border statistics;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pl-PL" sz="1600">
                <a:solidFill>
                  <a:srgbClr val="042125"/>
                </a:solidFill>
              </a:rPr>
              <a:t>Policymakers and Advisors:</a:t>
            </a:r>
            <a:r>
              <a:rPr lang="pl-PL" sz="1600">
                <a:solidFill>
                  <a:schemeClr val="dk1"/>
                </a:solidFill>
              </a:rPr>
              <a:t> requiring a high-level overview of national progress relative to EU-wide benchmarks;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pl-PL" sz="1600">
                <a:solidFill>
                  <a:srgbClr val="042125"/>
                </a:solidFill>
              </a:rPr>
              <a:t>Publicists and Analysts:</a:t>
            </a:r>
            <a:r>
              <a:rPr lang="pl-PL" sz="1600">
                <a:solidFill>
                  <a:schemeClr val="dk1"/>
                </a:solidFill>
              </a:rPr>
              <a:t> looking to debunk common myths regarding the costs and stability of the green energy transition.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5670748" y="154283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l-P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source: 			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096000" y="677503"/>
            <a:ext cx="5670748" cy="120355"/>
          </a:xfrm>
          <a:prstGeom prst="rect">
            <a:avLst/>
          </a:prstGeom>
          <a:solidFill>
            <a:srgbClr val="808E9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6095999" y="1066922"/>
            <a:ext cx="5670600" cy="1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>
                <a:solidFill>
                  <a:srgbClr val="69807E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 ten00124 ]</a:t>
            </a:r>
            <a:r>
              <a:rPr lang="pl-PL">
                <a:solidFill>
                  <a:schemeClr val="dk1"/>
                </a:solidFill>
              </a:rPr>
              <a:t> Final energy consumption by sector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>
                <a:solidFill>
                  <a:srgbClr val="69807E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 nrg_ind_ren ]</a:t>
            </a:r>
            <a:r>
              <a:rPr lang="pl-PL">
                <a:solidFill>
                  <a:schemeClr val="dk1"/>
                </a:solidFill>
              </a:rPr>
              <a:t> Share of energy from renewable sources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>
                <a:solidFill>
                  <a:srgbClr val="69807E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 nrg_pc_204 ]</a:t>
            </a:r>
            <a:r>
              <a:rPr lang="pl-PL">
                <a:solidFill>
                  <a:schemeClr val="dk1"/>
                </a:solidFill>
              </a:rPr>
              <a:t> Electricity prices for household consumers (bi-annual)</a:t>
            </a:r>
            <a:endParaRPr b="1" i="0" sz="1300" u="none" cap="none" strike="noStrike">
              <a:solidFill>
                <a:srgbClr val="2877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8866030" y="2610737"/>
            <a:ext cx="119100" cy="639000"/>
          </a:xfrm>
          <a:prstGeom prst="downArrow">
            <a:avLst>
              <a:gd fmla="val 50000" name="adj1"/>
              <a:gd fmla="val 107143" name="adj2"/>
            </a:avLst>
          </a:prstGeom>
          <a:solidFill>
            <a:srgbClr val="808E90"/>
          </a:solidFill>
          <a:ln cap="flat" cmpd="sng" w="19050">
            <a:solidFill>
              <a:srgbClr val="808E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7286181" y="3442600"/>
            <a:ext cx="3290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l-PL" sz="16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publicly available</a:t>
            </a:r>
            <a:endParaRPr b="1" i="0" sz="1600" u="none" cap="none" strike="noStrike">
              <a:solidFill>
                <a:srgbClr val="808E9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rgbClr val="808E9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l-PL" sz="1600">
                <a:solidFill>
                  <a:srgbClr val="808E90"/>
                </a:solidFill>
              </a:rPr>
              <a:t>regularly updated</a:t>
            </a:r>
            <a:endParaRPr b="1" sz="1600">
              <a:solidFill>
                <a:srgbClr val="808E9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1" i="0" lang="pl-PL" sz="16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l-PL" sz="16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structured, but requires pre-processing</a:t>
            </a:r>
            <a:endParaRPr b="1" i="0" sz="1600" u="none" cap="none" strike="noStrike">
              <a:solidFill>
                <a:srgbClr val="808E9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425251" y="1066922"/>
            <a:ext cx="5670600" cy="4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l-PL" sz="1600">
                <a:solidFill>
                  <a:schemeClr val="dk1"/>
                </a:solidFill>
              </a:rPr>
              <a:t>This strategic data engine is designed to transform complex Eurostat datasets into actionable political leverage in the </a:t>
            </a:r>
            <a:r>
              <a:rPr b="1" lang="pl-PL" sz="1600">
                <a:solidFill>
                  <a:srgbClr val="042125"/>
                </a:solidFill>
              </a:rPr>
              <a:t>Renewable Energy</a:t>
            </a:r>
            <a:r>
              <a:rPr lang="pl-PL" sz="1600">
                <a:solidFill>
                  <a:schemeClr val="dk1"/>
                </a:solidFill>
              </a:rPr>
              <a:t> discourse.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pl-PL" sz="29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〽</a:t>
            </a:r>
            <a:r>
              <a:rPr b="0" i="0" lang="pl-PL" sz="18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️</a:t>
            </a:r>
            <a:r>
              <a:rPr b="0" i="0" lang="pl-P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600">
                <a:solidFill>
                  <a:srgbClr val="B4B63B"/>
                </a:solidFill>
              </a:rPr>
              <a:t>INTENDED AUDIENCE</a:t>
            </a:r>
            <a:endParaRPr b="0" i="0" sz="1600" u="none" cap="none" strike="noStrike">
              <a:solidFill>
                <a:srgbClr val="B4B6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pl-PL" sz="1600">
                <a:solidFill>
                  <a:srgbClr val="042125"/>
                </a:solidFill>
              </a:rPr>
              <a:t>Lobbyists:</a:t>
            </a:r>
            <a:r>
              <a:rPr lang="pl-PL" sz="1600">
                <a:solidFill>
                  <a:schemeClr val="dk1"/>
                </a:solidFill>
              </a:rPr>
              <a:t> seeking to anchor their renewable energy pitches in validated, cross-border statistics;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pl-PL" sz="1600">
                <a:solidFill>
                  <a:srgbClr val="042125"/>
                </a:solidFill>
              </a:rPr>
              <a:t>Policymakers and Advisors:</a:t>
            </a:r>
            <a:r>
              <a:rPr lang="pl-PL" sz="1600">
                <a:solidFill>
                  <a:schemeClr val="dk1"/>
                </a:solidFill>
              </a:rPr>
              <a:t> requiring a high-level overview of national progress relative to EU-wide benchmarks;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pl-PL" sz="1600">
                <a:solidFill>
                  <a:srgbClr val="042125"/>
                </a:solidFill>
              </a:rPr>
              <a:t>Publicists and Analysts:</a:t>
            </a:r>
            <a:r>
              <a:rPr lang="pl-PL" sz="1600">
                <a:solidFill>
                  <a:schemeClr val="dk1"/>
                </a:solidFill>
              </a:rPr>
              <a:t> looking to debunk common myths regarding the costs and stability of the green energy transition.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25100" y="891925"/>
            <a:ext cx="5670900" cy="52848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94300" y="237140"/>
            <a:ext cx="1972448" cy="357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/>
        </p:nvSpPr>
        <p:spPr>
          <a:xfrm>
            <a:off x="5670748" y="154283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l-P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096000" y="677503"/>
            <a:ext cx="5670748" cy="120355"/>
          </a:xfrm>
          <a:prstGeom prst="rect">
            <a:avLst/>
          </a:prstGeom>
          <a:solidFill>
            <a:srgbClr val="808E9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6096074" y="887372"/>
            <a:ext cx="5670600" cy="51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l-PL" sz="16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Phase 1: </a:t>
            </a:r>
            <a:r>
              <a:rPr b="1" lang="pl-PL" sz="1600">
                <a:solidFill>
                  <a:srgbClr val="808E90"/>
                </a:solidFill>
              </a:rPr>
              <a:t>Data Extraction &amp; Web Scraping</a:t>
            </a:r>
            <a:endParaRPr b="1" i="0" sz="1600" u="none" cap="none" strike="noStrike">
              <a:solidFill>
                <a:srgbClr val="808E9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Step 1: </a:t>
            </a:r>
            <a:r>
              <a:rPr lang="pl-PL">
                <a:solidFill>
                  <a:schemeClr val="dk1"/>
                </a:solidFill>
              </a:rPr>
              <a:t>Extracting datasets via official API and web scraping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808E90"/>
                </a:solidFill>
              </a:rPr>
              <a:t>Step 2: </a:t>
            </a:r>
            <a:r>
              <a:rPr lang="pl-PL">
                <a:solidFill>
                  <a:schemeClr val="dk1"/>
                </a:solidFill>
              </a:rPr>
              <a:t>Performing the outer merge for the obtained datasets</a:t>
            </a:r>
            <a:endParaRPr>
              <a:solidFill>
                <a:schemeClr val="dk1"/>
              </a:solidFill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Language: 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(</a:t>
            </a:r>
            <a:r>
              <a:rPr i="1" lang="pl-PL">
                <a:solidFill>
                  <a:schemeClr val="dk1"/>
                </a:solidFill>
              </a:rPr>
              <a:t>BeautifulSoup, selenium, pyjstat)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Code:</a:t>
            </a:r>
            <a:r>
              <a:rPr b="0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pl-PL">
                <a:solidFill>
                  <a:schemeClr val="dk1"/>
                </a:solidFill>
              </a:rPr>
              <a:t>scraper_code</a:t>
            </a:r>
            <a:r>
              <a:rPr b="0" i="1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.py</a:t>
            </a:r>
            <a:endParaRPr b="1" i="0" sz="10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l-PL" sz="16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Phase 2: </a:t>
            </a:r>
            <a:r>
              <a:rPr b="1" lang="pl-PL" sz="1600">
                <a:solidFill>
                  <a:srgbClr val="808E90"/>
                </a:solidFill>
              </a:rPr>
              <a:t>Preprocessing &amp; Data Audit</a:t>
            </a:r>
            <a:endParaRPr b="0" i="0" sz="1600" u="none" cap="none" strike="noStrike">
              <a:solidFill>
                <a:srgbClr val="808E9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Step </a:t>
            </a:r>
            <a:r>
              <a:rPr b="1" lang="pl-PL">
                <a:solidFill>
                  <a:srgbClr val="808E90"/>
                </a:solidFill>
              </a:rPr>
              <a:t>3</a:t>
            </a: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>
                <a:solidFill>
                  <a:schemeClr val="dk1"/>
                </a:solidFill>
              </a:rPr>
              <a:t>Renaming dimension codes to user-friendly labels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Step </a:t>
            </a:r>
            <a:r>
              <a:rPr b="1" lang="pl-PL">
                <a:solidFill>
                  <a:srgbClr val="808E90"/>
                </a:solidFill>
              </a:rPr>
              <a:t>4</a:t>
            </a: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>
                <a:solidFill>
                  <a:schemeClr val="dk1"/>
                </a:solidFill>
              </a:rPr>
              <a:t>Systematic missing-data audit</a:t>
            </a:r>
            <a:endParaRPr>
              <a:solidFill>
                <a:schemeClr val="dk1"/>
              </a:solidFill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B4B63B"/>
                </a:solidFill>
              </a:rPr>
              <a:t>Language: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>
                <a:solidFill>
                  <a:schemeClr val="dk1"/>
                </a:solidFill>
              </a:rPr>
              <a:t>Python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i="1" lang="pl-PL">
                <a:solidFill>
                  <a:schemeClr val="dk1"/>
                </a:solidFill>
              </a:rPr>
              <a:t>pandas, numpy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Code: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pl-PL">
                <a:solidFill>
                  <a:schemeClr val="dk1"/>
                </a:solidFill>
              </a:rPr>
              <a:t>preproc</a:t>
            </a:r>
            <a:r>
              <a:rPr i="1" lang="pl-PL">
                <a:solidFill>
                  <a:schemeClr val="dk1"/>
                </a:solidFill>
              </a:rPr>
              <a:t>_code.py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08E90"/>
                </a:solidFill>
              </a:rPr>
              <a:t>Phase 3: Visualizations &amp; Dashboard</a:t>
            </a:r>
            <a:endParaRPr sz="1600">
              <a:solidFill>
                <a:srgbClr val="808E9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808E90"/>
                </a:solidFill>
              </a:rPr>
              <a:t>Step 5:</a:t>
            </a:r>
            <a:r>
              <a:rPr lang="pl-PL">
                <a:solidFill>
                  <a:srgbClr val="808E90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Preparing data visualizations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808E90"/>
                </a:solidFill>
              </a:rPr>
              <a:t>Step 6:</a:t>
            </a:r>
            <a:r>
              <a:rPr lang="pl-PL">
                <a:solidFill>
                  <a:srgbClr val="808E90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Rendering an ineractive dashboard to present results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B4B63B"/>
                </a:solidFill>
              </a:rPr>
              <a:t>Language:</a:t>
            </a:r>
            <a:r>
              <a:rPr lang="pl-PL">
                <a:solidFill>
                  <a:schemeClr val="dk1"/>
                </a:solidFill>
              </a:rPr>
              <a:t> Python (</a:t>
            </a:r>
            <a:r>
              <a:rPr i="1" lang="pl-PL">
                <a:solidFill>
                  <a:schemeClr val="dk1"/>
                </a:solidFill>
              </a:rPr>
              <a:t>seaborn, matplotlib, Streamlit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B4B63B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figures.py, dashboard.py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/>
        </p:nvSpPr>
        <p:spPr>
          <a:xfrm>
            <a:off x="6096074" y="887372"/>
            <a:ext cx="5670600" cy="51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l-PL" sz="16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Phase 1: </a:t>
            </a:r>
            <a:r>
              <a:rPr b="1" lang="pl-PL" sz="1600">
                <a:solidFill>
                  <a:srgbClr val="808E90"/>
                </a:solidFill>
              </a:rPr>
              <a:t>Data Extraction &amp; Web Scraping</a:t>
            </a:r>
            <a:endParaRPr b="1" i="0" sz="1600" u="none" cap="none" strike="noStrike">
              <a:solidFill>
                <a:srgbClr val="808E9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Step 1: </a:t>
            </a:r>
            <a:r>
              <a:rPr lang="pl-PL">
                <a:solidFill>
                  <a:schemeClr val="dk1"/>
                </a:solidFill>
              </a:rPr>
              <a:t>Extracting datasets via official API and web scraping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808E90"/>
                </a:solidFill>
              </a:rPr>
              <a:t>Step 2: </a:t>
            </a:r>
            <a:r>
              <a:rPr lang="pl-PL">
                <a:solidFill>
                  <a:schemeClr val="dk1"/>
                </a:solidFill>
              </a:rPr>
              <a:t>Performing the outer merge for the obtained datasets</a:t>
            </a:r>
            <a:endParaRPr>
              <a:solidFill>
                <a:schemeClr val="dk1"/>
              </a:solidFill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Language: 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(</a:t>
            </a:r>
            <a:r>
              <a:rPr i="1" lang="pl-PL">
                <a:solidFill>
                  <a:schemeClr val="dk1"/>
                </a:solidFill>
              </a:rPr>
              <a:t>BeautifulSoup, selenium, pyjstat)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Code:</a:t>
            </a:r>
            <a:r>
              <a:rPr b="0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pl-PL">
                <a:solidFill>
                  <a:schemeClr val="dk1"/>
                </a:solidFill>
              </a:rPr>
              <a:t>scraper_code</a:t>
            </a:r>
            <a:r>
              <a:rPr b="0" i="1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.py</a:t>
            </a:r>
            <a:endParaRPr b="1" i="0" sz="10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l-PL" sz="16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Phase 2: </a:t>
            </a:r>
            <a:r>
              <a:rPr b="1" lang="pl-PL" sz="1600">
                <a:solidFill>
                  <a:srgbClr val="808E90"/>
                </a:solidFill>
              </a:rPr>
              <a:t>Preprocessing &amp; Data Audit</a:t>
            </a:r>
            <a:endParaRPr b="0" i="0" sz="1600" u="none" cap="none" strike="noStrike">
              <a:solidFill>
                <a:srgbClr val="808E9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Step </a:t>
            </a:r>
            <a:r>
              <a:rPr b="1" lang="pl-PL">
                <a:solidFill>
                  <a:srgbClr val="808E90"/>
                </a:solidFill>
              </a:rPr>
              <a:t>3</a:t>
            </a: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>
                <a:solidFill>
                  <a:schemeClr val="dk1"/>
                </a:solidFill>
              </a:rPr>
              <a:t>Renaming dimension codes to user-friendly labels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Step </a:t>
            </a:r>
            <a:r>
              <a:rPr b="1" lang="pl-PL">
                <a:solidFill>
                  <a:srgbClr val="808E90"/>
                </a:solidFill>
              </a:rPr>
              <a:t>4</a:t>
            </a: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>
                <a:solidFill>
                  <a:schemeClr val="dk1"/>
                </a:solidFill>
              </a:rPr>
              <a:t>Systematic missing-data audit</a:t>
            </a:r>
            <a:endParaRPr>
              <a:solidFill>
                <a:schemeClr val="dk1"/>
              </a:solidFill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B4B63B"/>
                </a:solidFill>
              </a:rPr>
              <a:t>Language: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>
                <a:solidFill>
                  <a:schemeClr val="dk1"/>
                </a:solidFill>
              </a:rPr>
              <a:t>Python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i="1" lang="pl-PL">
                <a:solidFill>
                  <a:schemeClr val="dk1"/>
                </a:solidFill>
              </a:rPr>
              <a:t>pandas, numpy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Code: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pl-PL">
                <a:solidFill>
                  <a:schemeClr val="dk1"/>
                </a:solidFill>
              </a:rPr>
              <a:t>preproc_code.py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08E90"/>
                </a:solidFill>
              </a:rPr>
              <a:t>Phase 3: Visualizations &amp; Dashboard</a:t>
            </a:r>
            <a:endParaRPr sz="1600">
              <a:solidFill>
                <a:srgbClr val="808E9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808E90"/>
                </a:solidFill>
              </a:rPr>
              <a:t>Step 5:</a:t>
            </a:r>
            <a:r>
              <a:rPr lang="pl-PL">
                <a:solidFill>
                  <a:srgbClr val="808E90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Preparing data visualizations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808E90"/>
                </a:solidFill>
              </a:rPr>
              <a:t>Step 6:</a:t>
            </a:r>
            <a:r>
              <a:rPr lang="pl-PL">
                <a:solidFill>
                  <a:srgbClr val="808E90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Rendering an ineractive dashboard to present results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B4B63B"/>
                </a:solidFill>
              </a:rPr>
              <a:t>Language:</a:t>
            </a:r>
            <a:r>
              <a:rPr lang="pl-PL">
                <a:solidFill>
                  <a:schemeClr val="dk1"/>
                </a:solidFill>
              </a:rPr>
              <a:t> Python (</a:t>
            </a:r>
            <a:r>
              <a:rPr i="1" lang="pl-PL">
                <a:solidFill>
                  <a:schemeClr val="dk1"/>
                </a:solidFill>
              </a:rPr>
              <a:t>seaborn, matplotlib, Streamlit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B4B63B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figures.py, dashboard.py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096000" y="1180625"/>
            <a:ext cx="5670600" cy="3147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425251" y="154282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l-P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outer merge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25251" y="677502"/>
            <a:ext cx="5670748" cy="120355"/>
          </a:xfrm>
          <a:prstGeom prst="rect">
            <a:avLst/>
          </a:prstGeom>
          <a:solidFill>
            <a:srgbClr val="2243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25252" y="677501"/>
            <a:ext cx="5670748" cy="120355"/>
          </a:xfrm>
          <a:prstGeom prst="rect">
            <a:avLst/>
          </a:prstGeom>
          <a:solidFill>
            <a:srgbClr val="B4B63B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520375" y="5294875"/>
            <a:ext cx="5390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l-PL" sz="16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b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i="1" lang="pl-PL">
                <a:solidFill>
                  <a:schemeClr val="dk1"/>
                </a:solidFill>
              </a:rPr>
              <a:t>is</a:t>
            </a:r>
            <a:r>
              <a:rPr b="0" i="1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pl-PL">
                <a:solidFill>
                  <a:schemeClr val="dk1"/>
                </a:solidFill>
              </a:rPr>
              <a:t>function executes a sorted outer merge between two DataFrames while resolving potential naming collisions.</a:t>
            </a:r>
            <a:endParaRPr b="0" i="1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096000" y="2554700"/>
            <a:ext cx="5670600" cy="39408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889950"/>
            <a:ext cx="5561099" cy="113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4602f0849_0_98"/>
          <p:cNvSpPr txBox="1"/>
          <p:nvPr/>
        </p:nvSpPr>
        <p:spPr>
          <a:xfrm>
            <a:off x="425251" y="154282"/>
            <a:ext cx="60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l-P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missing </a:t>
            </a:r>
            <a:r>
              <a:rPr b="1" lang="pl-PL" sz="2800">
                <a:solidFill>
                  <a:schemeClr val="dk1"/>
                </a:solidFill>
              </a:rPr>
              <a:t>data audit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d4602f0849_0_98"/>
          <p:cNvSpPr/>
          <p:nvPr/>
        </p:nvSpPr>
        <p:spPr>
          <a:xfrm>
            <a:off x="425251" y="677502"/>
            <a:ext cx="5670600" cy="120300"/>
          </a:xfrm>
          <a:prstGeom prst="rect">
            <a:avLst/>
          </a:prstGeom>
          <a:solidFill>
            <a:srgbClr val="2243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d4602f0849_0_98"/>
          <p:cNvSpPr/>
          <p:nvPr/>
        </p:nvSpPr>
        <p:spPr>
          <a:xfrm>
            <a:off x="425252" y="677501"/>
            <a:ext cx="5670600" cy="120300"/>
          </a:xfrm>
          <a:prstGeom prst="rect">
            <a:avLst/>
          </a:prstGeom>
          <a:solidFill>
            <a:srgbClr val="B4B63B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d4602f0849_0_98"/>
          <p:cNvSpPr txBox="1"/>
          <p:nvPr/>
        </p:nvSpPr>
        <p:spPr>
          <a:xfrm>
            <a:off x="520375" y="5294875"/>
            <a:ext cx="5390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l-PL" sz="16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b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l-PL">
                <a:solidFill>
                  <a:schemeClr val="dk1"/>
                </a:solidFill>
              </a:rPr>
              <a:t>The script performs a data completeness audit by calculating the percentage of missing values for each energy indicator, grouped and sorted by geographic code across the three source datasets.</a:t>
            </a:r>
            <a:endParaRPr b="0" i="1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3d4602f0849_0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905050"/>
            <a:ext cx="5561100" cy="239236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d4602f0849_0_98"/>
          <p:cNvSpPr txBox="1"/>
          <p:nvPr/>
        </p:nvSpPr>
        <p:spPr>
          <a:xfrm>
            <a:off x="6096074" y="887372"/>
            <a:ext cx="5670600" cy="51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l-PL" sz="16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Phase 1: </a:t>
            </a:r>
            <a:r>
              <a:rPr b="1" lang="pl-PL" sz="1600">
                <a:solidFill>
                  <a:srgbClr val="808E90"/>
                </a:solidFill>
              </a:rPr>
              <a:t>Data Extraction &amp; Web Scraping</a:t>
            </a:r>
            <a:endParaRPr b="1" i="0" sz="1600" u="none" cap="none" strike="noStrike">
              <a:solidFill>
                <a:srgbClr val="808E9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Step 1: </a:t>
            </a:r>
            <a:r>
              <a:rPr lang="pl-PL">
                <a:solidFill>
                  <a:schemeClr val="dk1"/>
                </a:solidFill>
              </a:rPr>
              <a:t>Extracting datasets via official API and web scraping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808E90"/>
                </a:solidFill>
              </a:rPr>
              <a:t>Step 2: </a:t>
            </a:r>
            <a:r>
              <a:rPr lang="pl-PL">
                <a:solidFill>
                  <a:schemeClr val="dk1"/>
                </a:solidFill>
              </a:rPr>
              <a:t>Performing the outer merge for the obtained datasets</a:t>
            </a:r>
            <a:endParaRPr>
              <a:solidFill>
                <a:schemeClr val="dk1"/>
              </a:solidFill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Language: 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(</a:t>
            </a:r>
            <a:r>
              <a:rPr i="1" lang="pl-PL">
                <a:solidFill>
                  <a:schemeClr val="dk1"/>
                </a:solidFill>
              </a:rPr>
              <a:t>BeautifulSoup, selenium, pyjstat)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Code:</a:t>
            </a:r>
            <a:r>
              <a:rPr b="0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pl-PL">
                <a:solidFill>
                  <a:schemeClr val="dk1"/>
                </a:solidFill>
              </a:rPr>
              <a:t>scraper_code</a:t>
            </a:r>
            <a:r>
              <a:rPr b="0" i="1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.py</a:t>
            </a:r>
            <a:endParaRPr b="1" i="0" sz="10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l-PL" sz="16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Phase 2: </a:t>
            </a:r>
            <a:r>
              <a:rPr b="1" lang="pl-PL" sz="1600">
                <a:solidFill>
                  <a:srgbClr val="808E90"/>
                </a:solidFill>
              </a:rPr>
              <a:t>Preprocessing &amp; Data Audit</a:t>
            </a:r>
            <a:endParaRPr b="0" i="0" sz="1600" u="none" cap="none" strike="noStrike">
              <a:solidFill>
                <a:srgbClr val="808E9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Step </a:t>
            </a:r>
            <a:r>
              <a:rPr b="1" lang="pl-PL">
                <a:solidFill>
                  <a:srgbClr val="808E90"/>
                </a:solidFill>
              </a:rPr>
              <a:t>3</a:t>
            </a: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>
                <a:solidFill>
                  <a:schemeClr val="dk1"/>
                </a:solidFill>
              </a:rPr>
              <a:t>Renaming dimension codes to user-friendly labels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Step </a:t>
            </a:r>
            <a:r>
              <a:rPr b="1" lang="pl-PL">
                <a:solidFill>
                  <a:srgbClr val="808E90"/>
                </a:solidFill>
              </a:rPr>
              <a:t>4</a:t>
            </a: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>
                <a:solidFill>
                  <a:schemeClr val="dk1"/>
                </a:solidFill>
              </a:rPr>
              <a:t>Systematic missing-data audit</a:t>
            </a:r>
            <a:endParaRPr>
              <a:solidFill>
                <a:schemeClr val="dk1"/>
              </a:solidFill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B4B63B"/>
                </a:solidFill>
              </a:rPr>
              <a:t>Language: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>
                <a:solidFill>
                  <a:schemeClr val="dk1"/>
                </a:solidFill>
              </a:rPr>
              <a:t>Python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i="1" lang="pl-PL">
                <a:solidFill>
                  <a:schemeClr val="dk1"/>
                </a:solidFill>
              </a:rPr>
              <a:t>pandas, numpy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Code: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pl-PL">
                <a:solidFill>
                  <a:schemeClr val="dk1"/>
                </a:solidFill>
              </a:rPr>
              <a:t>preproc_code.py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08E90"/>
                </a:solidFill>
              </a:rPr>
              <a:t>Phase 3: Visualizations &amp; Dashboard</a:t>
            </a:r>
            <a:endParaRPr sz="1600">
              <a:solidFill>
                <a:srgbClr val="808E9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808E90"/>
                </a:solidFill>
              </a:rPr>
              <a:t>Step 5:</a:t>
            </a:r>
            <a:r>
              <a:rPr lang="pl-PL">
                <a:solidFill>
                  <a:srgbClr val="808E90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Preparing data visualizations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808E90"/>
                </a:solidFill>
              </a:rPr>
              <a:t>Step 6:</a:t>
            </a:r>
            <a:r>
              <a:rPr lang="pl-PL">
                <a:solidFill>
                  <a:srgbClr val="808E90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Rendering an ineractive dashboard to present results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B4B63B"/>
                </a:solidFill>
              </a:rPr>
              <a:t>Language:</a:t>
            </a:r>
            <a:r>
              <a:rPr lang="pl-PL">
                <a:solidFill>
                  <a:schemeClr val="dk1"/>
                </a:solidFill>
              </a:rPr>
              <a:t> Python (</a:t>
            </a:r>
            <a:r>
              <a:rPr i="1" lang="pl-PL">
                <a:solidFill>
                  <a:schemeClr val="dk1"/>
                </a:solidFill>
              </a:rPr>
              <a:t>seaborn, matplotlib, Streamlit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B4B63B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figures.py, dashboard.py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44" name="Google Shape;144;g3d4602f0849_0_98"/>
          <p:cNvSpPr/>
          <p:nvPr/>
        </p:nvSpPr>
        <p:spPr>
          <a:xfrm>
            <a:off x="6096000" y="905050"/>
            <a:ext cx="5670600" cy="15957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d4602f0849_0_98"/>
          <p:cNvSpPr/>
          <p:nvPr/>
        </p:nvSpPr>
        <p:spPr>
          <a:xfrm>
            <a:off x="6096000" y="4260225"/>
            <a:ext cx="5670600" cy="22353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d4602f0849_0_98"/>
          <p:cNvSpPr/>
          <p:nvPr/>
        </p:nvSpPr>
        <p:spPr>
          <a:xfrm>
            <a:off x="6096075" y="2939800"/>
            <a:ext cx="5670600" cy="3147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4602f0849_0_125"/>
          <p:cNvSpPr txBox="1"/>
          <p:nvPr/>
        </p:nvSpPr>
        <p:spPr>
          <a:xfrm>
            <a:off x="425251" y="154282"/>
            <a:ext cx="60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l-P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visualizations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d4602f0849_0_125"/>
          <p:cNvSpPr/>
          <p:nvPr/>
        </p:nvSpPr>
        <p:spPr>
          <a:xfrm>
            <a:off x="425251" y="677502"/>
            <a:ext cx="5670600" cy="120300"/>
          </a:xfrm>
          <a:prstGeom prst="rect">
            <a:avLst/>
          </a:prstGeom>
          <a:solidFill>
            <a:srgbClr val="2243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d4602f0849_0_125"/>
          <p:cNvSpPr/>
          <p:nvPr/>
        </p:nvSpPr>
        <p:spPr>
          <a:xfrm>
            <a:off x="425252" y="677501"/>
            <a:ext cx="5670600" cy="120300"/>
          </a:xfrm>
          <a:prstGeom prst="rect">
            <a:avLst/>
          </a:prstGeom>
          <a:solidFill>
            <a:srgbClr val="B4B63B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d4602f0849_0_125"/>
          <p:cNvSpPr txBox="1"/>
          <p:nvPr/>
        </p:nvSpPr>
        <p:spPr>
          <a:xfrm>
            <a:off x="520375" y="5294875"/>
            <a:ext cx="5390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l-PL" sz="16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b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l-PL">
                <a:solidFill>
                  <a:schemeClr val="dk1"/>
                </a:solidFill>
              </a:rPr>
              <a:t>The script generates a scatterplot correlating Total Renewable Energy Share with consumer energy costs.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55" name="Google Shape;155;g3d4602f0849_0_125"/>
          <p:cNvSpPr txBox="1"/>
          <p:nvPr/>
        </p:nvSpPr>
        <p:spPr>
          <a:xfrm>
            <a:off x="6096074" y="887372"/>
            <a:ext cx="5670600" cy="51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l-PL" sz="16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Phase 1: </a:t>
            </a:r>
            <a:r>
              <a:rPr b="1" lang="pl-PL" sz="1600">
                <a:solidFill>
                  <a:srgbClr val="808E90"/>
                </a:solidFill>
              </a:rPr>
              <a:t>Data Extraction &amp; Web Scraping</a:t>
            </a:r>
            <a:endParaRPr b="1" i="0" sz="1600" u="none" cap="none" strike="noStrike">
              <a:solidFill>
                <a:srgbClr val="808E9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Step 1: </a:t>
            </a:r>
            <a:r>
              <a:rPr lang="pl-PL">
                <a:solidFill>
                  <a:schemeClr val="dk1"/>
                </a:solidFill>
              </a:rPr>
              <a:t>Extracting datasets via official API and web scraping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808E90"/>
                </a:solidFill>
              </a:rPr>
              <a:t>Step 2: </a:t>
            </a:r>
            <a:r>
              <a:rPr lang="pl-PL">
                <a:solidFill>
                  <a:schemeClr val="dk1"/>
                </a:solidFill>
              </a:rPr>
              <a:t>Performing the outer merge for the obtained datasets</a:t>
            </a:r>
            <a:endParaRPr>
              <a:solidFill>
                <a:schemeClr val="dk1"/>
              </a:solidFill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Language: 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(</a:t>
            </a:r>
            <a:r>
              <a:rPr i="1" lang="pl-PL">
                <a:solidFill>
                  <a:schemeClr val="dk1"/>
                </a:solidFill>
              </a:rPr>
              <a:t>BeautifulSoup, selenium, pyjstat)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Code:</a:t>
            </a:r>
            <a:r>
              <a:rPr b="0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pl-PL">
                <a:solidFill>
                  <a:schemeClr val="dk1"/>
                </a:solidFill>
              </a:rPr>
              <a:t>scraper_code</a:t>
            </a:r>
            <a:r>
              <a:rPr b="0" i="1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.py</a:t>
            </a:r>
            <a:endParaRPr b="1" i="0" sz="10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l-PL" sz="16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Phase 2: </a:t>
            </a:r>
            <a:r>
              <a:rPr b="1" lang="pl-PL" sz="1600">
                <a:solidFill>
                  <a:srgbClr val="808E90"/>
                </a:solidFill>
              </a:rPr>
              <a:t>Preprocessing &amp; Data Audit</a:t>
            </a:r>
            <a:endParaRPr b="0" i="0" sz="1600" u="none" cap="none" strike="noStrike">
              <a:solidFill>
                <a:srgbClr val="808E9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Step </a:t>
            </a:r>
            <a:r>
              <a:rPr b="1" lang="pl-PL">
                <a:solidFill>
                  <a:srgbClr val="808E90"/>
                </a:solidFill>
              </a:rPr>
              <a:t>3</a:t>
            </a: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>
                <a:solidFill>
                  <a:schemeClr val="dk1"/>
                </a:solidFill>
              </a:rPr>
              <a:t>Renaming dimension codes to user-friendly labels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Step </a:t>
            </a:r>
            <a:r>
              <a:rPr b="1" lang="pl-PL">
                <a:solidFill>
                  <a:srgbClr val="808E90"/>
                </a:solidFill>
              </a:rPr>
              <a:t>4</a:t>
            </a: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>
                <a:solidFill>
                  <a:schemeClr val="dk1"/>
                </a:solidFill>
              </a:rPr>
              <a:t>Systematic missing-data audit</a:t>
            </a:r>
            <a:endParaRPr>
              <a:solidFill>
                <a:schemeClr val="dk1"/>
              </a:solidFill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B4B63B"/>
                </a:solidFill>
              </a:rPr>
              <a:t>Language: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>
                <a:solidFill>
                  <a:schemeClr val="dk1"/>
                </a:solidFill>
              </a:rPr>
              <a:t>Python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i="1" lang="pl-PL">
                <a:solidFill>
                  <a:schemeClr val="dk1"/>
                </a:solidFill>
              </a:rPr>
              <a:t>pandas, numpy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Code: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pl-PL">
                <a:solidFill>
                  <a:schemeClr val="dk1"/>
                </a:solidFill>
              </a:rPr>
              <a:t>preproc_code.py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08E90"/>
                </a:solidFill>
              </a:rPr>
              <a:t>Phase 3: Visualizations &amp; Dashboard</a:t>
            </a:r>
            <a:endParaRPr sz="1600">
              <a:solidFill>
                <a:srgbClr val="808E9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808E90"/>
                </a:solidFill>
              </a:rPr>
              <a:t>Step 5:</a:t>
            </a:r>
            <a:r>
              <a:rPr lang="pl-PL">
                <a:solidFill>
                  <a:srgbClr val="808E90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Preparing data visualizations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808E90"/>
                </a:solidFill>
              </a:rPr>
              <a:t>Step 6:</a:t>
            </a:r>
            <a:r>
              <a:rPr lang="pl-PL">
                <a:solidFill>
                  <a:srgbClr val="808E90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Rendering an ineractive dashboard to present results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B4B63B"/>
                </a:solidFill>
              </a:rPr>
              <a:t>Language:</a:t>
            </a:r>
            <a:r>
              <a:rPr lang="pl-PL">
                <a:solidFill>
                  <a:schemeClr val="dk1"/>
                </a:solidFill>
              </a:rPr>
              <a:t> Python (</a:t>
            </a:r>
            <a:r>
              <a:rPr i="1" lang="pl-PL">
                <a:solidFill>
                  <a:schemeClr val="dk1"/>
                </a:solidFill>
              </a:rPr>
              <a:t>seaborn, matplotlib, Streamlit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B4B63B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figures.py, dashboard.py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56" name="Google Shape;156;g3d4602f0849_0_125"/>
          <p:cNvSpPr/>
          <p:nvPr/>
        </p:nvSpPr>
        <p:spPr>
          <a:xfrm>
            <a:off x="6096000" y="905050"/>
            <a:ext cx="5670600" cy="33372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d4602f0849_0_125"/>
          <p:cNvSpPr/>
          <p:nvPr/>
        </p:nvSpPr>
        <p:spPr>
          <a:xfrm>
            <a:off x="6096000" y="5032200"/>
            <a:ext cx="5670600" cy="3147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g3d4602f0849_0_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890050"/>
            <a:ext cx="5561100" cy="425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4602f0849_0_150"/>
          <p:cNvSpPr txBox="1"/>
          <p:nvPr/>
        </p:nvSpPr>
        <p:spPr>
          <a:xfrm>
            <a:off x="425251" y="154282"/>
            <a:ext cx="609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l-P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– </a:t>
            </a:r>
            <a:r>
              <a:rPr b="1" lang="pl-PL" sz="2800">
                <a:solidFill>
                  <a:schemeClr val="dk1"/>
                </a:solidFill>
              </a:rPr>
              <a:t>visualizations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d4602f0849_0_150"/>
          <p:cNvSpPr/>
          <p:nvPr/>
        </p:nvSpPr>
        <p:spPr>
          <a:xfrm>
            <a:off x="425251" y="677502"/>
            <a:ext cx="5670600" cy="120300"/>
          </a:xfrm>
          <a:prstGeom prst="rect">
            <a:avLst/>
          </a:prstGeom>
          <a:solidFill>
            <a:srgbClr val="2243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d4602f0849_0_150"/>
          <p:cNvSpPr/>
          <p:nvPr/>
        </p:nvSpPr>
        <p:spPr>
          <a:xfrm>
            <a:off x="425252" y="677501"/>
            <a:ext cx="5670600" cy="120300"/>
          </a:xfrm>
          <a:prstGeom prst="rect">
            <a:avLst/>
          </a:prstGeom>
          <a:solidFill>
            <a:srgbClr val="B4B63B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d4602f0849_0_150"/>
          <p:cNvSpPr txBox="1"/>
          <p:nvPr/>
        </p:nvSpPr>
        <p:spPr>
          <a:xfrm>
            <a:off x="520375" y="5294875"/>
            <a:ext cx="5390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l-PL" sz="16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b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l-PL">
                <a:solidFill>
                  <a:schemeClr val="dk1"/>
                </a:solidFill>
              </a:rPr>
              <a:t>The script </a:t>
            </a:r>
            <a:r>
              <a:rPr i="1" lang="pl-PL">
                <a:solidFill>
                  <a:schemeClr val="dk1"/>
                </a:solidFill>
              </a:rPr>
              <a:t>renders a centered, custom-styled header for the dashboad precisely scaling the font sizes of the title and subtitle via injected HTML.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67" name="Google Shape;167;g3d4602f0849_0_150"/>
          <p:cNvSpPr txBox="1"/>
          <p:nvPr/>
        </p:nvSpPr>
        <p:spPr>
          <a:xfrm>
            <a:off x="6096074" y="887372"/>
            <a:ext cx="5670600" cy="51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l-PL" sz="16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Phase 1: </a:t>
            </a:r>
            <a:r>
              <a:rPr b="1" lang="pl-PL" sz="1600">
                <a:solidFill>
                  <a:srgbClr val="808E90"/>
                </a:solidFill>
              </a:rPr>
              <a:t>Data Extraction &amp; Web Scraping</a:t>
            </a:r>
            <a:endParaRPr b="1" i="0" sz="1600" u="none" cap="none" strike="noStrike">
              <a:solidFill>
                <a:srgbClr val="808E9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Step 1: </a:t>
            </a:r>
            <a:r>
              <a:rPr lang="pl-PL">
                <a:solidFill>
                  <a:schemeClr val="dk1"/>
                </a:solidFill>
              </a:rPr>
              <a:t>Extracting datasets via official API and web scraping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9140"/>
              </a:buClr>
              <a:buSzPts val="1600"/>
              <a:buFont typeface="Arial"/>
              <a:buNone/>
            </a:pPr>
            <a:r>
              <a:rPr b="1" lang="pl-PL">
                <a:solidFill>
                  <a:srgbClr val="808E90"/>
                </a:solidFill>
              </a:rPr>
              <a:t>Step 2: </a:t>
            </a:r>
            <a:r>
              <a:rPr lang="pl-PL">
                <a:solidFill>
                  <a:schemeClr val="dk1"/>
                </a:solidFill>
              </a:rPr>
              <a:t>Performing the outer merge for the obtained datasets</a:t>
            </a:r>
            <a:endParaRPr>
              <a:solidFill>
                <a:schemeClr val="dk1"/>
              </a:solidFill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Language: 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(</a:t>
            </a:r>
            <a:r>
              <a:rPr i="1" lang="pl-PL">
                <a:solidFill>
                  <a:schemeClr val="dk1"/>
                </a:solidFill>
              </a:rPr>
              <a:t>BeautifulSoup, selenium, pyjstat)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Code:</a:t>
            </a:r>
            <a:r>
              <a:rPr b="0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pl-PL">
                <a:solidFill>
                  <a:schemeClr val="dk1"/>
                </a:solidFill>
              </a:rPr>
              <a:t>scraper_code</a:t>
            </a:r>
            <a:r>
              <a:rPr b="0" i="1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.py</a:t>
            </a:r>
            <a:endParaRPr b="1" i="0" sz="10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l-PL" sz="16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Phase 2: </a:t>
            </a:r>
            <a:r>
              <a:rPr b="1" lang="pl-PL" sz="1600">
                <a:solidFill>
                  <a:srgbClr val="808E90"/>
                </a:solidFill>
              </a:rPr>
              <a:t>Preprocessing &amp; Data Audit</a:t>
            </a:r>
            <a:endParaRPr b="0" i="0" sz="1600" u="none" cap="none" strike="noStrike">
              <a:solidFill>
                <a:srgbClr val="808E9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Step </a:t>
            </a:r>
            <a:r>
              <a:rPr b="1" lang="pl-PL">
                <a:solidFill>
                  <a:srgbClr val="808E90"/>
                </a:solidFill>
              </a:rPr>
              <a:t>3</a:t>
            </a: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>
                <a:solidFill>
                  <a:schemeClr val="dk1"/>
                </a:solidFill>
              </a:rPr>
              <a:t>Renaming dimension codes to user-friendly labels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Step </a:t>
            </a:r>
            <a:r>
              <a:rPr b="1" lang="pl-PL">
                <a:solidFill>
                  <a:srgbClr val="808E90"/>
                </a:solidFill>
              </a:rPr>
              <a:t>4</a:t>
            </a:r>
            <a:r>
              <a:rPr b="1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pl-PL" sz="1400" u="none" cap="none" strike="noStrike">
                <a:solidFill>
                  <a:srgbClr val="808E9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>
                <a:solidFill>
                  <a:schemeClr val="dk1"/>
                </a:solidFill>
              </a:rPr>
              <a:t>Systematic missing-data audit</a:t>
            </a:r>
            <a:endParaRPr>
              <a:solidFill>
                <a:schemeClr val="dk1"/>
              </a:solidFill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B4B63B"/>
                </a:solidFill>
              </a:rPr>
              <a:t>Language: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>
                <a:solidFill>
                  <a:schemeClr val="dk1"/>
                </a:solidFill>
              </a:rPr>
              <a:t>Python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i="1" lang="pl-PL">
                <a:solidFill>
                  <a:schemeClr val="dk1"/>
                </a:solidFill>
              </a:rPr>
              <a:t>pandas, numpy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l-PL" sz="14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Code:</a:t>
            </a:r>
            <a:r>
              <a:rPr b="0" i="0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pl-PL">
                <a:solidFill>
                  <a:schemeClr val="dk1"/>
                </a:solidFill>
              </a:rPr>
              <a:t>preproc_code.py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-PL" sz="1600">
                <a:solidFill>
                  <a:srgbClr val="808E90"/>
                </a:solidFill>
              </a:rPr>
              <a:t>Phase 3: Visualizations &amp; Dashboard</a:t>
            </a:r>
            <a:endParaRPr sz="1600">
              <a:solidFill>
                <a:srgbClr val="808E9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808E90"/>
                </a:solidFill>
              </a:rPr>
              <a:t>Step 5:</a:t>
            </a:r>
            <a:r>
              <a:rPr lang="pl-PL">
                <a:solidFill>
                  <a:srgbClr val="808E90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Preparing data visualizations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808E90"/>
                </a:solidFill>
              </a:rPr>
              <a:t>Step 6:</a:t>
            </a:r>
            <a:r>
              <a:rPr lang="pl-PL">
                <a:solidFill>
                  <a:srgbClr val="808E90"/>
                </a:solidFill>
              </a:rPr>
              <a:t> </a:t>
            </a:r>
            <a:r>
              <a:rPr lang="pl-PL">
                <a:solidFill>
                  <a:schemeClr val="dk1"/>
                </a:solidFill>
              </a:rPr>
              <a:t>Rendering an ineractive dashboard to present results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B4B63B"/>
                </a:solidFill>
              </a:rPr>
              <a:t>Language:</a:t>
            </a:r>
            <a:r>
              <a:rPr lang="pl-PL">
                <a:solidFill>
                  <a:schemeClr val="dk1"/>
                </a:solidFill>
              </a:rPr>
              <a:t> Python (</a:t>
            </a:r>
            <a:r>
              <a:rPr i="1" lang="pl-PL">
                <a:solidFill>
                  <a:schemeClr val="dk1"/>
                </a:solidFill>
              </a:rPr>
              <a:t>seaborn, matplotlib, Streamlit</a:t>
            </a:r>
            <a:r>
              <a:rPr lang="pl-PL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>
                <a:solidFill>
                  <a:srgbClr val="B4B63B"/>
                </a:solidFill>
              </a:rPr>
              <a:t>Code: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i="1" lang="pl-PL">
                <a:solidFill>
                  <a:schemeClr val="dk1"/>
                </a:solidFill>
              </a:rPr>
              <a:t>figures.py, dashboard.py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68" name="Google Shape;168;g3d4602f0849_0_150"/>
          <p:cNvSpPr/>
          <p:nvPr/>
        </p:nvSpPr>
        <p:spPr>
          <a:xfrm>
            <a:off x="6096000" y="905050"/>
            <a:ext cx="5670600" cy="33372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d4602f0849_0_150"/>
          <p:cNvSpPr/>
          <p:nvPr/>
        </p:nvSpPr>
        <p:spPr>
          <a:xfrm>
            <a:off x="6096000" y="4727000"/>
            <a:ext cx="5670600" cy="3147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g3d4602f0849_0_150"/>
          <p:cNvPicPr preferRelativeResize="0"/>
          <p:nvPr/>
        </p:nvPicPr>
        <p:blipFill rotWithShape="1">
          <a:blip r:embed="rId3">
            <a:alphaModFix/>
          </a:blip>
          <a:srcRect b="0" l="0" r="3063" t="0"/>
          <a:stretch/>
        </p:blipFill>
        <p:spPr>
          <a:xfrm>
            <a:off x="425250" y="905050"/>
            <a:ext cx="5561100" cy="2443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2a6c2236b_0_17"/>
          <p:cNvSpPr txBox="1"/>
          <p:nvPr/>
        </p:nvSpPr>
        <p:spPr>
          <a:xfrm>
            <a:off x="425250" y="1147875"/>
            <a:ext cx="8601600" cy="49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chemeClr val="dk1"/>
                </a:solidFill>
              </a:rPr>
              <a:t>The project was built through an </a:t>
            </a:r>
            <a:r>
              <a:rPr b="1" lang="pl-PL" sz="1600">
                <a:solidFill>
                  <a:srgbClr val="808E90"/>
                </a:solidFill>
              </a:rPr>
              <a:t>AI-augmented workflow</a:t>
            </a:r>
            <a:r>
              <a:rPr lang="pl-PL" sz="1600">
                <a:solidFill>
                  <a:schemeClr val="dk1"/>
                </a:solidFill>
              </a:rPr>
              <a:t>, using the Cursor IDE and Claude.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chemeClr val="dk1"/>
                </a:solidFill>
              </a:rPr>
              <a:t>Data extraction, preprocessing, and analytical figure logic were written by the Author and optimized by Cursor. </a:t>
            </a:r>
            <a:r>
              <a:rPr lang="pl-PL" sz="1600">
                <a:solidFill>
                  <a:schemeClr val="dk1"/>
                </a:solidFill>
              </a:rPr>
              <a:t>Presentation layer (Streamlit, CSS branding, HTML rendering, code refactoring) were implemented by </a:t>
            </a:r>
            <a:r>
              <a:rPr lang="pl-PL" sz="1600">
                <a:solidFill>
                  <a:schemeClr val="dk1"/>
                </a:solidFill>
              </a:rPr>
              <a:t>Cursor under the following rules: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4B63B"/>
              </a:buClr>
              <a:buSzPts val="1600"/>
              <a:buChar char="●"/>
            </a:pPr>
            <a:r>
              <a:rPr b="1" lang="pl-PL" sz="1600">
                <a:solidFill>
                  <a:srgbClr val="B4B63B"/>
                </a:solidFill>
              </a:rPr>
              <a:t>Author-driven design decisions</a:t>
            </a:r>
            <a:r>
              <a:rPr lang="pl-PL" sz="1600">
                <a:solidFill>
                  <a:schemeClr val="dk1"/>
                </a:solidFill>
              </a:rPr>
              <a:t>: All visual design choices (</a:t>
            </a:r>
            <a:r>
              <a:rPr lang="pl-PL" sz="1600">
                <a:solidFill>
                  <a:schemeClr val="dk1"/>
                </a:solidFill>
              </a:rPr>
              <a:t>e.g, </a:t>
            </a:r>
            <a:r>
              <a:rPr lang="pl-PL" sz="1600">
                <a:solidFill>
                  <a:schemeClr val="dk1"/>
                </a:solidFill>
              </a:rPr>
              <a:t>color palette, layout proportions, typography), content, and analytics (e.g, how to group RES Shares) originated from the Author;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4B63B"/>
              </a:buClr>
              <a:buSzPts val="1600"/>
              <a:buChar char="●"/>
            </a:pPr>
            <a:r>
              <a:rPr b="1" lang="pl-PL" sz="1600">
                <a:solidFill>
                  <a:srgbClr val="B4B63B"/>
                </a:solidFill>
              </a:rPr>
              <a:t>AI-assisted implementation</a:t>
            </a:r>
            <a:r>
              <a:rPr lang="pl-PL" sz="1600">
                <a:solidFill>
                  <a:schemeClr val="dk1"/>
                </a:solidFill>
              </a:rPr>
              <a:t>: </a:t>
            </a:r>
            <a:r>
              <a:rPr lang="pl-PL" sz="1600">
                <a:solidFill>
                  <a:schemeClr val="dk1"/>
                </a:solidFill>
              </a:rPr>
              <a:t>Cursor</a:t>
            </a:r>
            <a:r>
              <a:rPr lang="pl-PL" sz="1600">
                <a:solidFill>
                  <a:schemeClr val="dk1"/>
                </a:solidFill>
              </a:rPr>
              <a:t> translated high-level instructions into working code, handling the CSS specificity with Streamlit's internal styles, HTML templating, and Matplotlib API details;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4B63B"/>
              </a:buClr>
              <a:buSzPts val="1600"/>
              <a:buChar char="●"/>
            </a:pPr>
            <a:r>
              <a:rPr b="1" lang="pl-PL" sz="1600">
                <a:solidFill>
                  <a:srgbClr val="B4B63B"/>
                </a:solidFill>
              </a:rPr>
              <a:t>Continuous review</a:t>
            </a:r>
            <a:r>
              <a:rPr lang="pl-PL" sz="1600">
                <a:solidFill>
                  <a:schemeClr val="dk1"/>
                </a:solidFill>
              </a:rPr>
              <a:t>: The Author verified every change and provided feedback. The Author also made direct edits to the </a:t>
            </a:r>
            <a:r>
              <a:rPr lang="pl-PL" sz="1600">
                <a:solidFill>
                  <a:schemeClr val="dk1"/>
                </a:solidFill>
              </a:rPr>
              <a:t>Streamlit </a:t>
            </a:r>
            <a:r>
              <a:rPr lang="pl-PL" sz="1600">
                <a:solidFill>
                  <a:schemeClr val="dk1"/>
                </a:solidFill>
              </a:rPr>
              <a:t>code independently between </a:t>
            </a:r>
            <a:r>
              <a:rPr lang="pl-PL" sz="1600">
                <a:solidFill>
                  <a:schemeClr val="dk1"/>
                </a:solidFill>
              </a:rPr>
              <a:t>Cursor</a:t>
            </a:r>
            <a:r>
              <a:rPr lang="pl-PL" sz="1600">
                <a:solidFill>
                  <a:schemeClr val="dk1"/>
                </a:solidFill>
              </a:rPr>
              <a:t> sessions. Large structural improvements were first proposed by Cursor, then selectively approved or rejected by the Author before implementation.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6" name="Google Shape;176;g3d2a6c2236b_0_17"/>
          <p:cNvSpPr/>
          <p:nvPr/>
        </p:nvSpPr>
        <p:spPr>
          <a:xfrm>
            <a:off x="425253" y="677504"/>
            <a:ext cx="5670600" cy="120300"/>
          </a:xfrm>
          <a:prstGeom prst="rect">
            <a:avLst/>
          </a:prstGeom>
          <a:solidFill>
            <a:srgbClr val="808E9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d2a6c2236b_0_17"/>
          <p:cNvSpPr txBox="1"/>
          <p:nvPr/>
        </p:nvSpPr>
        <p:spPr>
          <a:xfrm>
            <a:off x="344570" y="154284"/>
            <a:ext cx="74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l-PL" sz="2800">
                <a:solidFill>
                  <a:schemeClr val="dk1"/>
                </a:solidFill>
              </a:rPr>
              <a:t>AI-augumented workflow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g3d2a6c2236b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0374" y="1196845"/>
            <a:ext cx="1133450" cy="11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d2a6c2236b_0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5650" y="1292225"/>
            <a:ext cx="942699" cy="94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4602f0849_0_175"/>
          <p:cNvSpPr/>
          <p:nvPr/>
        </p:nvSpPr>
        <p:spPr>
          <a:xfrm>
            <a:off x="425250" y="516235"/>
            <a:ext cx="5670600" cy="76800"/>
          </a:xfrm>
          <a:prstGeom prst="rect">
            <a:avLst/>
          </a:prstGeom>
          <a:solidFill>
            <a:srgbClr val="808E9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d4602f0849_0_175"/>
          <p:cNvSpPr txBox="1"/>
          <p:nvPr/>
        </p:nvSpPr>
        <p:spPr>
          <a:xfrm>
            <a:off x="344570" y="154284"/>
            <a:ext cx="745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l-PL" sz="2000">
                <a:solidFill>
                  <a:schemeClr val="dk1"/>
                </a:solidFill>
              </a:rPr>
              <a:t>The Dashboard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d4602f0849_0_175" title="Showroom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794700"/>
            <a:ext cx="9376998" cy="53850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" name="Google Shape;187;g3d4602f0849_0_175"/>
          <p:cNvCxnSpPr>
            <a:endCxn id="188" idx="1"/>
          </p:cNvCxnSpPr>
          <p:nvPr/>
        </p:nvCxnSpPr>
        <p:spPr>
          <a:xfrm flipH="1" rot="10800000">
            <a:off x="7145750" y="1422500"/>
            <a:ext cx="3352500" cy="441300"/>
          </a:xfrm>
          <a:prstGeom prst="curvedConnector3">
            <a:avLst>
              <a:gd fmla="val 50000" name="adj1"/>
            </a:avLst>
          </a:prstGeom>
          <a:noFill/>
          <a:ln cap="flat" cmpd="sng" w="76200">
            <a:solidFill>
              <a:srgbClr val="97497B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8" name="Google Shape;188;g3d4602f0849_0_175"/>
          <p:cNvSpPr txBox="1"/>
          <p:nvPr/>
        </p:nvSpPr>
        <p:spPr>
          <a:xfrm>
            <a:off x="10498250" y="1057550"/>
            <a:ext cx="16128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08E90"/>
                </a:solidFill>
              </a:rPr>
              <a:t>Navigation Buttons </a:t>
            </a:r>
            <a:r>
              <a:rPr b="1" lang="pl-PL" sz="1200">
                <a:solidFill>
                  <a:schemeClr val="dk1"/>
                </a:solidFill>
              </a:rPr>
              <a:t>to switch between dashboard pages.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4602f0849_0_184"/>
          <p:cNvSpPr/>
          <p:nvPr/>
        </p:nvSpPr>
        <p:spPr>
          <a:xfrm>
            <a:off x="425250" y="516235"/>
            <a:ext cx="5670600" cy="76800"/>
          </a:xfrm>
          <a:prstGeom prst="rect">
            <a:avLst/>
          </a:prstGeom>
          <a:solidFill>
            <a:srgbClr val="808E9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d4602f0849_0_184"/>
          <p:cNvSpPr txBox="1"/>
          <p:nvPr/>
        </p:nvSpPr>
        <p:spPr>
          <a:xfrm>
            <a:off x="344570" y="154284"/>
            <a:ext cx="745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l-PL" sz="2000">
                <a:solidFill>
                  <a:schemeClr val="dk1"/>
                </a:solidFill>
              </a:rPr>
              <a:t>The Dashboard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g3d4602f0849_0_184" title="Sourc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250" y="794700"/>
            <a:ext cx="9372923" cy="538272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d4602f0849_0_184"/>
          <p:cNvSpPr txBox="1"/>
          <p:nvPr/>
        </p:nvSpPr>
        <p:spPr>
          <a:xfrm>
            <a:off x="9870175" y="2025150"/>
            <a:ext cx="2257800" cy="160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chemeClr val="dk1"/>
                </a:solidFill>
              </a:rPr>
              <a:t>The Data Model page that synchronizes after dataset update including Eurostat</a:t>
            </a:r>
            <a:r>
              <a:rPr b="1" lang="pl-PL" sz="1200">
                <a:solidFill>
                  <a:srgbClr val="808E90"/>
                </a:solidFill>
              </a:rPr>
              <a:t> </a:t>
            </a:r>
            <a:r>
              <a:rPr b="1" lang="pl-PL" sz="1200">
                <a:solidFill>
                  <a:srgbClr val="B4B63B"/>
                </a:solidFill>
              </a:rPr>
              <a:t>[Links] </a:t>
            </a:r>
            <a:r>
              <a:rPr b="1" lang="pl-PL" sz="1200">
                <a:solidFill>
                  <a:schemeClr val="dk1"/>
                </a:solidFill>
              </a:rPr>
              <a:t>and metadata (</a:t>
            </a:r>
            <a:r>
              <a:rPr b="1" i="1" lang="pl-PL" sz="1200">
                <a:solidFill>
                  <a:schemeClr val="dk1"/>
                </a:solidFill>
              </a:rPr>
              <a:t>Last updated</a:t>
            </a:r>
            <a:r>
              <a:rPr b="1" lang="pl-PL" sz="1200">
                <a:solidFill>
                  <a:schemeClr val="dk1"/>
                </a:solidFill>
              </a:rPr>
              <a:t>).</a:t>
            </a:r>
            <a:endParaRPr b="1" sz="1200">
              <a:solidFill>
                <a:schemeClr val="dk1"/>
              </a:solidFill>
            </a:endParaRPr>
          </a:p>
        </p:txBody>
      </p:sp>
      <p:cxnSp>
        <p:nvCxnSpPr>
          <p:cNvPr id="197" name="Google Shape;197;g3d4602f0849_0_184"/>
          <p:cNvCxnSpPr/>
          <p:nvPr/>
        </p:nvCxnSpPr>
        <p:spPr>
          <a:xfrm flipH="1" rot="10800000">
            <a:off x="8907050" y="3187275"/>
            <a:ext cx="1353600" cy="1155000"/>
          </a:xfrm>
          <a:prstGeom prst="curvedConnector3">
            <a:avLst>
              <a:gd fmla="val 86828" name="adj1"/>
            </a:avLst>
          </a:prstGeom>
          <a:noFill/>
          <a:ln cap="flat" cmpd="sng" w="76200">
            <a:solidFill>
              <a:srgbClr val="97497B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4602f0849_0_190"/>
          <p:cNvSpPr/>
          <p:nvPr/>
        </p:nvSpPr>
        <p:spPr>
          <a:xfrm>
            <a:off x="425250" y="516235"/>
            <a:ext cx="5670600" cy="76800"/>
          </a:xfrm>
          <a:prstGeom prst="rect">
            <a:avLst/>
          </a:prstGeom>
          <a:solidFill>
            <a:srgbClr val="808E9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d4602f0849_0_190"/>
          <p:cNvSpPr txBox="1"/>
          <p:nvPr/>
        </p:nvSpPr>
        <p:spPr>
          <a:xfrm>
            <a:off x="344570" y="154284"/>
            <a:ext cx="745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l-PL" sz="2000">
                <a:solidFill>
                  <a:schemeClr val="dk1"/>
                </a:solidFill>
              </a:rPr>
              <a:t>The Dashboard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g3d4602f0849_0_190" title="Abou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250" y="794700"/>
            <a:ext cx="9376998" cy="538506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d4602f0849_0_190"/>
          <p:cNvSpPr txBox="1"/>
          <p:nvPr/>
        </p:nvSpPr>
        <p:spPr>
          <a:xfrm>
            <a:off x="9870175" y="2262800"/>
            <a:ext cx="2172900" cy="93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chemeClr val="dk1"/>
                </a:solidFill>
              </a:rPr>
              <a:t>The About page including basic project information and d</a:t>
            </a:r>
            <a:r>
              <a:rPr b="1" lang="pl-PL" sz="1200">
                <a:solidFill>
                  <a:schemeClr val="dk1"/>
                </a:solidFill>
              </a:rPr>
              <a:t>ata-driven </a:t>
            </a:r>
            <a:r>
              <a:rPr b="1" lang="pl-PL" sz="1200">
                <a:solidFill>
                  <a:srgbClr val="808E90"/>
                </a:solidFill>
              </a:rPr>
              <a:t>strategic insights</a:t>
            </a:r>
            <a:r>
              <a:rPr b="1" lang="pl-PL" sz="1200">
                <a:solidFill>
                  <a:schemeClr val="dk1"/>
                </a:solidFill>
              </a:rPr>
              <a:t>.</a:t>
            </a:r>
            <a:endParaRPr b="1" sz="1200">
              <a:solidFill>
                <a:schemeClr val="dk1"/>
              </a:solidFill>
            </a:endParaRPr>
          </a:p>
        </p:txBody>
      </p:sp>
      <p:cxnSp>
        <p:nvCxnSpPr>
          <p:cNvPr id="206" name="Google Shape;206;g3d4602f0849_0_190"/>
          <p:cNvCxnSpPr/>
          <p:nvPr/>
        </p:nvCxnSpPr>
        <p:spPr>
          <a:xfrm flipH="1" rot="10800000">
            <a:off x="8907050" y="3187275"/>
            <a:ext cx="1353600" cy="1155000"/>
          </a:xfrm>
          <a:prstGeom prst="curvedConnector3">
            <a:avLst>
              <a:gd fmla="val 86828" name="adj1"/>
            </a:avLst>
          </a:prstGeom>
          <a:noFill/>
          <a:ln cap="flat" cmpd="sng" w="76200">
            <a:solidFill>
              <a:srgbClr val="97497B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g3d4602f0849_0_202" title="Showroom6.png"/>
          <p:cNvPicPr preferRelativeResize="0"/>
          <p:nvPr/>
        </p:nvPicPr>
        <p:blipFill rotWithShape="1">
          <a:blip r:embed="rId3">
            <a:alphaModFix/>
          </a:blip>
          <a:srcRect b="98068" l="0" r="0" t="0"/>
          <a:stretch/>
        </p:blipFill>
        <p:spPr>
          <a:xfrm>
            <a:off x="425250" y="4770238"/>
            <a:ext cx="9750473" cy="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d4602f0849_0_202"/>
          <p:cNvSpPr/>
          <p:nvPr/>
        </p:nvSpPr>
        <p:spPr>
          <a:xfrm>
            <a:off x="425250" y="516235"/>
            <a:ext cx="5670600" cy="76800"/>
          </a:xfrm>
          <a:prstGeom prst="rect">
            <a:avLst/>
          </a:prstGeom>
          <a:solidFill>
            <a:srgbClr val="808E9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d4602f0849_0_202"/>
          <p:cNvSpPr txBox="1"/>
          <p:nvPr/>
        </p:nvSpPr>
        <p:spPr>
          <a:xfrm>
            <a:off x="344570" y="154284"/>
            <a:ext cx="745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l-PL" sz="2000">
                <a:solidFill>
                  <a:schemeClr val="dk1"/>
                </a:solidFill>
              </a:rPr>
              <a:t>The Dashboard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g3d4602f0849_0_202" title="Showroom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794700"/>
            <a:ext cx="9750473" cy="39755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g3d4602f0849_0_202"/>
          <p:cNvCxnSpPr>
            <a:endCxn id="216" idx="1"/>
          </p:cNvCxnSpPr>
          <p:nvPr/>
        </p:nvCxnSpPr>
        <p:spPr>
          <a:xfrm>
            <a:off x="6110150" y="3722650"/>
            <a:ext cx="3369600" cy="1706100"/>
          </a:xfrm>
          <a:prstGeom prst="curvedConnector3">
            <a:avLst>
              <a:gd fmla="val 50000" name="adj1"/>
            </a:avLst>
          </a:prstGeom>
          <a:noFill/>
          <a:ln cap="flat" cmpd="sng" w="76200">
            <a:solidFill>
              <a:srgbClr val="97497B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6" name="Google Shape;216;g3d4602f0849_0_202"/>
          <p:cNvSpPr txBox="1"/>
          <p:nvPr/>
        </p:nvSpPr>
        <p:spPr>
          <a:xfrm>
            <a:off x="9479750" y="4970350"/>
            <a:ext cx="1952100" cy="9168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chemeClr val="dk1"/>
                </a:solidFill>
              </a:rPr>
              <a:t>In the Showroom page, each</a:t>
            </a:r>
            <a:r>
              <a:rPr b="1" lang="pl-PL" sz="1200">
                <a:solidFill>
                  <a:srgbClr val="808E90"/>
                </a:solidFill>
              </a:rPr>
              <a:t> data visualization </a:t>
            </a:r>
            <a:r>
              <a:rPr b="1" lang="pl-PL" sz="1200">
                <a:solidFill>
                  <a:schemeClr val="dk1"/>
                </a:solidFill>
              </a:rPr>
              <a:t>changes in real time, depending on chosen parameters... 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4602f0849_0_210"/>
          <p:cNvSpPr/>
          <p:nvPr/>
        </p:nvSpPr>
        <p:spPr>
          <a:xfrm>
            <a:off x="425250" y="516235"/>
            <a:ext cx="5670600" cy="76800"/>
          </a:xfrm>
          <a:prstGeom prst="rect">
            <a:avLst/>
          </a:prstGeom>
          <a:solidFill>
            <a:srgbClr val="808E9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d4602f0849_0_210"/>
          <p:cNvSpPr txBox="1"/>
          <p:nvPr/>
        </p:nvSpPr>
        <p:spPr>
          <a:xfrm>
            <a:off x="344570" y="154284"/>
            <a:ext cx="745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l-PL" sz="2000">
                <a:solidFill>
                  <a:schemeClr val="dk1"/>
                </a:solidFill>
              </a:rPr>
              <a:t>The Dashboard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g3d4602f0849_0_210" title="Countri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250" y="794700"/>
            <a:ext cx="9750473" cy="3975543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d4602f0849_0_210"/>
          <p:cNvSpPr txBox="1"/>
          <p:nvPr/>
        </p:nvSpPr>
        <p:spPr>
          <a:xfrm>
            <a:off x="9479750" y="5216491"/>
            <a:ext cx="211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chemeClr val="dk1"/>
                </a:solidFill>
              </a:rPr>
              <a:t>… </a:t>
            </a:r>
            <a:r>
              <a:rPr b="1" lang="pl-PL" sz="1200">
                <a:solidFill>
                  <a:srgbClr val="B4B63B"/>
                </a:solidFill>
              </a:rPr>
              <a:t>Countries</a:t>
            </a:r>
            <a:r>
              <a:rPr b="1" lang="pl-PL" sz="1200">
                <a:solidFill>
                  <a:schemeClr val="dk1"/>
                </a:solidFill>
              </a:rPr>
              <a:t> of interest, ...</a:t>
            </a:r>
            <a:r>
              <a:rPr b="1" lang="pl-PL" sz="1200">
                <a:solidFill>
                  <a:schemeClr val="dk1"/>
                </a:solidFill>
              </a:rPr>
              <a:t> </a:t>
            </a:r>
            <a:endParaRPr b="1" sz="1200">
              <a:solidFill>
                <a:schemeClr val="dk1"/>
              </a:solidFill>
            </a:endParaRPr>
          </a:p>
        </p:txBody>
      </p:sp>
      <p:cxnSp>
        <p:nvCxnSpPr>
          <p:cNvPr id="225" name="Google Shape;225;g3d4602f0849_0_210"/>
          <p:cNvCxnSpPr>
            <a:endCxn id="224" idx="0"/>
          </p:cNvCxnSpPr>
          <p:nvPr/>
        </p:nvCxnSpPr>
        <p:spPr>
          <a:xfrm>
            <a:off x="7476500" y="2653291"/>
            <a:ext cx="3060000" cy="2563200"/>
          </a:xfrm>
          <a:prstGeom prst="curvedConnector2">
            <a:avLst/>
          </a:prstGeom>
          <a:noFill/>
          <a:ln cap="flat" cmpd="sng" w="76200">
            <a:solidFill>
              <a:srgbClr val="97497B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226" name="Google Shape;226;g3d4602f0849_0_210" title="Showroom6.png"/>
          <p:cNvPicPr preferRelativeResize="0"/>
          <p:nvPr/>
        </p:nvPicPr>
        <p:blipFill rotWithShape="1">
          <a:blip r:embed="rId4">
            <a:alphaModFix/>
          </a:blip>
          <a:srcRect b="98068" l="0" r="0" t="0"/>
          <a:stretch/>
        </p:blipFill>
        <p:spPr>
          <a:xfrm>
            <a:off x="425250" y="4770238"/>
            <a:ext cx="9750473" cy="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4602f0849_0_239"/>
          <p:cNvSpPr/>
          <p:nvPr/>
        </p:nvSpPr>
        <p:spPr>
          <a:xfrm>
            <a:off x="425250" y="516235"/>
            <a:ext cx="5670600" cy="76800"/>
          </a:xfrm>
          <a:prstGeom prst="rect">
            <a:avLst/>
          </a:prstGeom>
          <a:solidFill>
            <a:srgbClr val="808E9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d4602f0849_0_239"/>
          <p:cNvSpPr txBox="1"/>
          <p:nvPr/>
        </p:nvSpPr>
        <p:spPr>
          <a:xfrm>
            <a:off x="344570" y="154284"/>
            <a:ext cx="745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l-PL" sz="2000">
                <a:solidFill>
                  <a:schemeClr val="dk1"/>
                </a:solidFill>
              </a:rPr>
              <a:t>The Dashboard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g3d4602f0849_0_239" title="Showroom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794700"/>
            <a:ext cx="9750473" cy="3975543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d4602f0849_0_239"/>
          <p:cNvSpPr txBox="1"/>
          <p:nvPr/>
        </p:nvSpPr>
        <p:spPr>
          <a:xfrm>
            <a:off x="8418800" y="5505075"/>
            <a:ext cx="243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chemeClr val="dk1"/>
                </a:solidFill>
              </a:rPr>
              <a:t>… or chosen </a:t>
            </a:r>
            <a:r>
              <a:rPr b="1" lang="pl-PL" sz="1200">
                <a:solidFill>
                  <a:srgbClr val="B4B63B"/>
                </a:solidFill>
              </a:rPr>
              <a:t>Price</a:t>
            </a:r>
            <a:r>
              <a:rPr b="1" lang="pl-PL" sz="1200">
                <a:solidFill>
                  <a:schemeClr val="dk1"/>
                </a:solidFill>
              </a:rPr>
              <a:t> calculation. 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235" name="Google Shape;235;g3d4602f0849_0_239" title="Showroom6.png"/>
          <p:cNvPicPr preferRelativeResize="0"/>
          <p:nvPr/>
        </p:nvPicPr>
        <p:blipFill rotWithShape="1">
          <a:blip r:embed="rId3">
            <a:alphaModFix/>
          </a:blip>
          <a:srcRect b="98068" l="0" r="0" t="0"/>
          <a:stretch/>
        </p:blipFill>
        <p:spPr>
          <a:xfrm>
            <a:off x="425250" y="4770238"/>
            <a:ext cx="9750473" cy="7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6" name="Google Shape;236;g3d4602f0849_0_239"/>
          <p:cNvCxnSpPr>
            <a:endCxn id="237" idx="1"/>
          </p:cNvCxnSpPr>
          <p:nvPr/>
        </p:nvCxnSpPr>
        <p:spPr>
          <a:xfrm flipH="1" rot="-5400000">
            <a:off x="7353600" y="3302525"/>
            <a:ext cx="2359500" cy="1892700"/>
          </a:xfrm>
          <a:prstGeom prst="curvedConnector3">
            <a:avLst>
              <a:gd fmla="val 50000" name="adj1"/>
            </a:avLst>
          </a:prstGeom>
          <a:noFill/>
          <a:ln cap="flat" cmpd="sng" w="76200">
            <a:solidFill>
              <a:srgbClr val="97497B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4602f0849_0_216"/>
          <p:cNvSpPr/>
          <p:nvPr/>
        </p:nvSpPr>
        <p:spPr>
          <a:xfrm>
            <a:off x="425250" y="516235"/>
            <a:ext cx="5670600" cy="76800"/>
          </a:xfrm>
          <a:prstGeom prst="rect">
            <a:avLst/>
          </a:prstGeom>
          <a:solidFill>
            <a:srgbClr val="808E9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d4602f0849_0_216"/>
          <p:cNvSpPr txBox="1"/>
          <p:nvPr/>
        </p:nvSpPr>
        <p:spPr>
          <a:xfrm>
            <a:off x="344570" y="154284"/>
            <a:ext cx="745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l-PL" sz="2000">
                <a:solidFill>
                  <a:schemeClr val="dk1"/>
                </a:solidFill>
              </a:rPr>
              <a:t>The Dashboard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g3d4602f0849_0_216" title="Descripti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250" y="794700"/>
            <a:ext cx="9750473" cy="397554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d4602f0849_0_216"/>
          <p:cNvSpPr txBox="1"/>
          <p:nvPr/>
        </p:nvSpPr>
        <p:spPr>
          <a:xfrm>
            <a:off x="8995950" y="5021300"/>
            <a:ext cx="2240700" cy="80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200">
                <a:solidFill>
                  <a:srgbClr val="808E90"/>
                </a:solidFill>
              </a:rPr>
              <a:t>Description</a:t>
            </a:r>
            <a:r>
              <a:rPr b="1" lang="pl-PL" sz="1200">
                <a:solidFill>
                  <a:schemeClr val="dk1"/>
                </a:solidFill>
              </a:rPr>
              <a:t> buttons provide technical information and data sources for each visualization.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246" name="Google Shape;246;g3d4602f0849_0_216" title="Showroom6.png"/>
          <p:cNvPicPr preferRelativeResize="0"/>
          <p:nvPr/>
        </p:nvPicPr>
        <p:blipFill rotWithShape="1">
          <a:blip r:embed="rId4">
            <a:alphaModFix/>
          </a:blip>
          <a:srcRect b="98068" l="0" r="0" t="0"/>
          <a:stretch/>
        </p:blipFill>
        <p:spPr>
          <a:xfrm>
            <a:off x="425250" y="4770238"/>
            <a:ext cx="9750473" cy="7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7" name="Google Shape;247;g3d4602f0849_0_216"/>
          <p:cNvCxnSpPr>
            <a:endCxn id="245" idx="1"/>
          </p:cNvCxnSpPr>
          <p:nvPr/>
        </p:nvCxnSpPr>
        <p:spPr>
          <a:xfrm>
            <a:off x="6907950" y="3417200"/>
            <a:ext cx="2088000" cy="2007300"/>
          </a:xfrm>
          <a:prstGeom prst="curvedConnector3">
            <a:avLst>
              <a:gd fmla="val 50000" name="adj1"/>
            </a:avLst>
          </a:prstGeom>
          <a:noFill/>
          <a:ln cap="flat" cmpd="sng" w="76200">
            <a:solidFill>
              <a:srgbClr val="97497B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4602f0849_0_163"/>
          <p:cNvSpPr txBox="1"/>
          <p:nvPr/>
        </p:nvSpPr>
        <p:spPr>
          <a:xfrm>
            <a:off x="425253" y="959346"/>
            <a:ext cx="5670600" cy="4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E90"/>
              </a:buClr>
              <a:buSzPts val="1600"/>
              <a:buFont typeface="Arial"/>
              <a:buChar char="●"/>
            </a:pPr>
            <a:r>
              <a:rPr b="1" lang="pl-PL" sz="1600">
                <a:solidFill>
                  <a:srgbClr val="B4B63B"/>
                </a:solidFill>
              </a:rPr>
              <a:t>〽 Present the affordability argument,</a:t>
            </a:r>
            <a:r>
              <a:rPr lang="pl-PL" sz="1600">
                <a:solidFill>
                  <a:schemeClr val="dk1"/>
                </a:solidFill>
              </a:rPr>
              <a:t> by correlating high renewable penetration with long-term price stability and lower net costs;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E90"/>
              </a:buClr>
              <a:buSzPts val="1600"/>
              <a:buFont typeface="Arial"/>
              <a:buChar char="●"/>
            </a:pPr>
            <a:r>
              <a:rPr b="1" lang="pl-PL" sz="1600">
                <a:solidFill>
                  <a:srgbClr val="B4B63B"/>
                </a:solidFill>
              </a:rPr>
              <a:t>〽 Expose sectoral bottlenecks</a:t>
            </a:r>
            <a:r>
              <a:rPr lang="pl-PL" sz="1600">
                <a:solidFill>
                  <a:schemeClr val="dk1"/>
                </a:solidFill>
              </a:rPr>
              <a:t> by identifying exactly where heating and transport systems fail to keep pace with the power grid;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E90"/>
              </a:buClr>
              <a:buSzPts val="1600"/>
              <a:buFont typeface="Arial"/>
              <a:buChar char="●"/>
            </a:pPr>
            <a:r>
              <a:rPr b="1" lang="pl-PL" sz="1600">
                <a:solidFill>
                  <a:srgbClr val="B4B63B"/>
                </a:solidFill>
              </a:rPr>
              <a:t>〽 Optimize capital flow</a:t>
            </a:r>
            <a:r>
              <a:rPr lang="pl-PL" sz="1600">
                <a:solidFill>
                  <a:schemeClr val="dk1"/>
                </a:solidFill>
              </a:rPr>
              <a:t> by pinpointing the “High Potential” markets where infrastructure investment will deliver the most significant economic and environmental ROI;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808E90"/>
              </a:buClr>
              <a:buSzPts val="1600"/>
              <a:buFont typeface="Arial"/>
              <a:buChar char="●"/>
            </a:pPr>
            <a:r>
              <a:rPr b="1" lang="pl-PL" sz="1600">
                <a:solidFill>
                  <a:srgbClr val="B4B63B"/>
                </a:solidFill>
              </a:rPr>
              <a:t>〽 Test national decarbonization performance</a:t>
            </a:r>
            <a:r>
              <a:rPr lang="pl-PL" sz="1600">
                <a:solidFill>
                  <a:schemeClr val="dk1"/>
                </a:solidFill>
              </a:rPr>
              <a:t>, by direct, evidence-based comparisons between member states.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53" name="Google Shape;253;g3d4602f0849_0_163"/>
          <p:cNvSpPr/>
          <p:nvPr/>
        </p:nvSpPr>
        <p:spPr>
          <a:xfrm>
            <a:off x="425253" y="677504"/>
            <a:ext cx="5670600" cy="120300"/>
          </a:xfrm>
          <a:prstGeom prst="rect">
            <a:avLst/>
          </a:prstGeom>
          <a:solidFill>
            <a:srgbClr val="808E9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d4602f0849_0_163"/>
          <p:cNvSpPr txBox="1"/>
          <p:nvPr/>
        </p:nvSpPr>
        <p:spPr>
          <a:xfrm>
            <a:off x="344570" y="154284"/>
            <a:ext cx="74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l-PL" sz="2800">
                <a:solidFill>
                  <a:schemeClr val="dk1"/>
                </a:solidFill>
              </a:rPr>
              <a:t>Practical business aplications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4602f0849_0_62"/>
          <p:cNvSpPr txBox="1"/>
          <p:nvPr/>
        </p:nvSpPr>
        <p:spPr>
          <a:xfrm>
            <a:off x="425253" y="959346"/>
            <a:ext cx="5670600" cy="4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E90"/>
              </a:buClr>
              <a:buSzPts val="1600"/>
              <a:buFont typeface="Arial"/>
              <a:buChar char="●"/>
            </a:pPr>
            <a:r>
              <a:rPr b="1" lang="pl-PL" sz="1600">
                <a:solidFill>
                  <a:srgbClr val="B4B63B"/>
                </a:solidFill>
              </a:rPr>
              <a:t>〽 Present the affordability argument,</a:t>
            </a:r>
            <a:r>
              <a:rPr lang="pl-PL" sz="1600">
                <a:solidFill>
                  <a:schemeClr val="dk1"/>
                </a:solidFill>
              </a:rPr>
              <a:t> by correlating high renewable penetration with long-term price stability and lower net costs;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E90"/>
              </a:buClr>
              <a:buSzPts val="1600"/>
              <a:buFont typeface="Arial"/>
              <a:buChar char="●"/>
            </a:pPr>
            <a:r>
              <a:rPr b="1" lang="pl-PL" sz="1600">
                <a:solidFill>
                  <a:srgbClr val="B4B63B"/>
                </a:solidFill>
              </a:rPr>
              <a:t>〽 Expose sectoral bottlenecks</a:t>
            </a:r>
            <a:r>
              <a:rPr lang="pl-PL" sz="1600">
                <a:solidFill>
                  <a:schemeClr val="dk1"/>
                </a:solidFill>
              </a:rPr>
              <a:t> by identifying exactly where heating and transport systems fail to keep pace with the power grid;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08E90"/>
              </a:buClr>
              <a:buSzPts val="1600"/>
              <a:buFont typeface="Arial"/>
              <a:buChar char="●"/>
            </a:pPr>
            <a:r>
              <a:rPr b="1" lang="pl-PL" sz="1600">
                <a:solidFill>
                  <a:srgbClr val="B4B63B"/>
                </a:solidFill>
              </a:rPr>
              <a:t>〽 Optimize capital flow</a:t>
            </a:r>
            <a:r>
              <a:rPr lang="pl-PL" sz="1600">
                <a:solidFill>
                  <a:schemeClr val="dk1"/>
                </a:solidFill>
              </a:rPr>
              <a:t> by pinpointing the “High Potential” markets where infrastructure investment will deliver the most significant economic and environmental ROI;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808E90"/>
              </a:buClr>
              <a:buSzPts val="1600"/>
              <a:buFont typeface="Arial"/>
              <a:buChar char="●"/>
            </a:pPr>
            <a:r>
              <a:rPr b="1" lang="pl-PL" sz="1600">
                <a:solidFill>
                  <a:srgbClr val="B4B63B"/>
                </a:solidFill>
              </a:rPr>
              <a:t>〽 Test national decarbonization performance</a:t>
            </a:r>
            <a:r>
              <a:rPr lang="pl-PL" sz="1600">
                <a:solidFill>
                  <a:schemeClr val="dk1"/>
                </a:solidFill>
              </a:rPr>
              <a:t>, by direct, evidence-based comparisons between member states.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60" name="Google Shape;260;g3d4602f0849_0_62"/>
          <p:cNvSpPr/>
          <p:nvPr/>
        </p:nvSpPr>
        <p:spPr>
          <a:xfrm>
            <a:off x="6161198" y="677504"/>
            <a:ext cx="5670600" cy="120300"/>
          </a:xfrm>
          <a:prstGeom prst="rect">
            <a:avLst/>
          </a:prstGeom>
          <a:solidFill>
            <a:srgbClr val="808E90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d4602f0849_0_62"/>
          <p:cNvSpPr txBox="1"/>
          <p:nvPr/>
        </p:nvSpPr>
        <p:spPr>
          <a:xfrm>
            <a:off x="6080515" y="154284"/>
            <a:ext cx="74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l-PL" sz="2800">
                <a:solidFill>
                  <a:schemeClr val="dk1"/>
                </a:solidFill>
              </a:rPr>
              <a:t>A</a:t>
            </a:r>
            <a:r>
              <a:rPr b="1" i="0" lang="pl-P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nalysis limitations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d4602f0849_0_62"/>
          <p:cNvSpPr txBox="1"/>
          <p:nvPr/>
        </p:nvSpPr>
        <p:spPr>
          <a:xfrm>
            <a:off x="6161195" y="959200"/>
            <a:ext cx="5670900" cy="5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1601" lvl="0" marL="36000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i="1" lang="pl-PL">
                <a:solidFill>
                  <a:schemeClr val="dk1"/>
                </a:solidFill>
              </a:rPr>
              <a:t>By design, the pipeline omits the Commercial and Public Services. Total figures represent Industry, Transport, and Households sectors (covering the vast majority of consumption), not the absolute national total;</a:t>
            </a:r>
            <a:endParaRPr i="1">
              <a:solidFill>
                <a:schemeClr val="dk1"/>
              </a:solidFill>
            </a:endParaRPr>
          </a:p>
          <a:p>
            <a:pPr indent="-281601" lvl="0" marL="360001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i="1" lang="pl-PL">
                <a:solidFill>
                  <a:schemeClr val="dk1"/>
                </a:solidFill>
              </a:rPr>
              <a:t>Pricing data is anchored to the DC Band from 2500 to 4999 kWh (median EU household). It may not reflect the costs faced by low-income households or heavy industrial users;</a:t>
            </a:r>
            <a:endParaRPr i="1">
              <a:solidFill>
                <a:schemeClr val="dk1"/>
              </a:solidFill>
            </a:endParaRPr>
          </a:p>
          <a:p>
            <a:pPr indent="-281601" lvl="0" marL="360001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i="1" lang="pl-PL">
                <a:solidFill>
                  <a:schemeClr val="dk1"/>
                </a:solidFill>
              </a:rPr>
              <a:t>An “Outer Merge” strategy is used to accommodate countries with incomplete records for specific years. Consequently, some figures may appear fragmented for specific Member States.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l-PL" sz="16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Important note:</a:t>
            </a:r>
            <a:endParaRPr b="1" i="0" sz="1600" u="none" cap="none" strike="noStrike">
              <a:solidFill>
                <a:srgbClr val="B4B6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l-PL">
                <a:solidFill>
                  <a:schemeClr val="dk1"/>
                </a:solidFill>
              </a:rPr>
              <a:t>The insights provided are focused on the strategic application of energy metrics for policy advocacy and are not based on formal academic expertise in energy economics or legislative drafting. </a:t>
            </a:r>
            <a:br>
              <a:rPr lang="pl-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l-PL">
                <a:solidFill>
                  <a:schemeClr val="dk1"/>
                </a:solidFill>
              </a:rPr>
              <a:t>My aim was to demonstrate the ability to architect data, design robust ETL processes, and extract actionable business intelligence from complex relational datasets.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d4602f0849_0_62"/>
          <p:cNvSpPr/>
          <p:nvPr/>
        </p:nvSpPr>
        <p:spPr>
          <a:xfrm>
            <a:off x="425100" y="959350"/>
            <a:ext cx="5670900" cy="55413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"/>
          <p:cNvSpPr/>
          <p:nvPr/>
        </p:nvSpPr>
        <p:spPr>
          <a:xfrm>
            <a:off x="422890" y="677501"/>
            <a:ext cx="5670600" cy="120300"/>
          </a:xfrm>
          <a:prstGeom prst="rect">
            <a:avLst/>
          </a:prstGeom>
          <a:solidFill>
            <a:srgbClr val="B4B63B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333285" y="154275"/>
            <a:ext cx="567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pl-PL" sz="2800">
                <a:solidFill>
                  <a:schemeClr val="dk1"/>
                </a:solidFill>
              </a:rPr>
              <a:t>R</a:t>
            </a:r>
            <a:r>
              <a:rPr b="1" i="0" lang="pl-P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esults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656156" y="959200"/>
            <a:ext cx="5545200" cy="53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l-PL" sz="1600" u="none" cap="none" strike="noStrike">
                <a:solidFill>
                  <a:srgbClr val="224378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pl-PL" sz="16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r>
              <a:rPr b="1" lang="pl-PL" sz="1600">
                <a:solidFill>
                  <a:srgbClr val="B4B63B"/>
                </a:solidFill>
              </a:rPr>
              <a:t>scraper_data.csv</a:t>
            </a:r>
            <a:r>
              <a:rPr b="1" i="0" lang="pl-PL" sz="16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br>
              <a:rPr b="1" i="0" lang="pl-PL" sz="16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l-PL" sz="1600" u="none" cap="none" strike="noStrike">
                <a:solidFill>
                  <a:srgbClr val="B4B63B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pl-PL" sz="1600">
                <a:solidFill>
                  <a:srgbClr val="B4B63B"/>
                </a:solidFill>
              </a:rPr>
              <a:t>{ scraper_metadata.csv }</a:t>
            </a:r>
            <a:endParaRPr b="1" sz="1600">
              <a:solidFill>
                <a:srgbClr val="B4B63B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l-PL" sz="1600">
                <a:solidFill>
                  <a:srgbClr val="B4B63B"/>
                </a:solidFill>
              </a:rPr>
              <a:t>{ eu_efta_countries.csv }</a:t>
            </a:r>
            <a:endParaRPr b="1" sz="1600">
              <a:solidFill>
                <a:srgbClr val="B4B63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i="1" lang="pl-PL">
                <a:solidFill>
                  <a:schemeClr val="dk1"/>
                </a:solidFill>
              </a:rPr>
              <a:t>Eurostat-related</a:t>
            </a:r>
            <a:r>
              <a:rPr b="0" i="1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datasets, extracted via API or scraped</a:t>
            </a:r>
            <a:r>
              <a:rPr b="0" i="1" lang="pl-P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l-PL" sz="1600">
                <a:solidFill>
                  <a:srgbClr val="B4B63B"/>
                </a:solidFill>
              </a:rPr>
              <a:t>	{ preprocessed_data.csv }</a:t>
            </a:r>
            <a:endParaRPr b="1" sz="1600">
              <a:solidFill>
                <a:srgbClr val="B4B63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l-PL" sz="1600">
                <a:solidFill>
                  <a:srgbClr val="B4B63B"/>
                </a:solidFill>
              </a:rPr>
              <a:t>		</a:t>
            </a:r>
            <a:r>
              <a:rPr i="1" lang="pl-PL">
                <a:solidFill>
                  <a:schemeClr val="dk1"/>
                </a:solidFill>
              </a:rPr>
              <a:t>main preprocessed dataset ready for data anlaysis; </a:t>
            </a:r>
            <a:endParaRPr b="1" sz="1600">
              <a:solidFill>
                <a:srgbClr val="B4B63B"/>
              </a:solidFill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l-PL" sz="1600" u="none" cap="none" strike="noStrike">
                <a:solidFill>
                  <a:srgbClr val="224378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pl-PL" sz="1600">
                <a:solidFill>
                  <a:srgbClr val="B4B63B"/>
                </a:solidFill>
              </a:rPr>
              <a:t>scraper_code.py</a:t>
            </a:r>
            <a:endParaRPr b="0" i="0" sz="14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1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</a:t>
            </a:r>
            <a:r>
              <a:rPr i="1" lang="pl-PL">
                <a:solidFill>
                  <a:schemeClr val="dk1"/>
                </a:solidFill>
              </a:rPr>
              <a:t>data extraction</a:t>
            </a:r>
            <a:r>
              <a:rPr b="0" i="1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code</a:t>
            </a:r>
            <a:r>
              <a:rPr b="0" i="1" lang="pl-P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1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l-PL" sz="1600">
                <a:solidFill>
                  <a:srgbClr val="B4B63B"/>
                </a:solidFill>
              </a:rPr>
              <a:t>preproc_code.py</a:t>
            </a:r>
            <a:endParaRPr b="0" i="0" sz="1400" u="none" cap="none" strike="noStrike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pl-PL">
                <a:solidFill>
                  <a:schemeClr val="dk1"/>
                </a:solidFill>
              </a:rPr>
              <a:t>Python preprocessing</a:t>
            </a:r>
            <a:r>
              <a:rPr b="0" i="1" lang="pl-P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code</a:t>
            </a:r>
            <a:r>
              <a:rPr b="0" i="1" lang="pl-P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1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l-PL" sz="1600">
                <a:solidFill>
                  <a:srgbClr val="B4B63B"/>
                </a:solidFill>
              </a:rPr>
              <a:t>figures</a:t>
            </a:r>
            <a:r>
              <a:rPr b="1" lang="pl-PL" sz="1600">
                <a:solidFill>
                  <a:srgbClr val="B4B63B"/>
                </a:solidFill>
              </a:rPr>
              <a:t>.py</a:t>
            </a:r>
            <a:endParaRPr>
              <a:solidFill>
                <a:srgbClr val="188038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pl-PL">
                <a:solidFill>
                  <a:schemeClr val="dk1"/>
                </a:solidFill>
              </a:rPr>
              <a:t>Python code for figure generation</a:t>
            </a:r>
            <a:r>
              <a:rPr i="1" lang="pl-PL" sz="1200">
                <a:solidFill>
                  <a:schemeClr val="dk1"/>
                </a:solidFill>
              </a:rPr>
              <a:t>;</a:t>
            </a:r>
            <a:endParaRPr i="1"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l-PL" sz="1600">
                <a:solidFill>
                  <a:srgbClr val="B4B63B"/>
                </a:solidFill>
              </a:rPr>
              <a:t>dashboard.py</a:t>
            </a:r>
            <a:endParaRPr>
              <a:solidFill>
                <a:srgbClr val="188038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pl-PL">
                <a:solidFill>
                  <a:schemeClr val="dk1"/>
                </a:solidFill>
              </a:rPr>
              <a:t>Python dashboard rendering code</a:t>
            </a:r>
            <a:r>
              <a:rPr i="1" lang="pl-PL" sz="1200">
                <a:solidFill>
                  <a:schemeClr val="dk1"/>
                </a:solidFill>
              </a:rPr>
              <a:t>;</a:t>
            </a:r>
            <a:endParaRPr i="1" sz="12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 sz="1600">
                <a:solidFill>
                  <a:srgbClr val="B4B63B"/>
                </a:solidFill>
              </a:rPr>
              <a:t>brand.css</a:t>
            </a:r>
            <a:endParaRPr b="1" sz="1600">
              <a:solidFill>
                <a:srgbClr val="B4B63B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l-PL" sz="1600">
                <a:solidFill>
                  <a:srgbClr val="B4B63B"/>
                </a:solidFill>
              </a:rPr>
              <a:t>	</a:t>
            </a:r>
            <a:r>
              <a:rPr i="1" lang="pl-PL">
                <a:solidFill>
                  <a:schemeClr val="dk1"/>
                </a:solidFill>
              </a:rPr>
              <a:t>stylesheet for the dashboard;</a:t>
            </a:r>
            <a:endParaRPr b="1" sz="1600">
              <a:solidFill>
                <a:srgbClr val="B4B63B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</p:txBody>
      </p:sp>
      <p:pic>
        <p:nvPicPr>
          <p:cNvPr descr="36- data source Vector Icons free download in SVG, PNG Format" id="271" name="Google Shape;2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80" y="1023491"/>
            <a:ext cx="434788" cy="434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flat color outline icon 10332153 PNG" id="272" name="Google Shape;27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56161" y="2899831"/>
            <a:ext cx="408435" cy="408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flat color outline icon 10332153 PNG" id="273" name="Google Shape;27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56161" y="3549953"/>
            <a:ext cx="408435" cy="408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6- data source Vector Icons free download in SVG, PNG Format" id="274" name="Google Shape;2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80" y="2250285"/>
            <a:ext cx="434788" cy="434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flat color outline icon 10332153 PNG" id="275" name="Google Shape;27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56161" y="4200078"/>
            <a:ext cx="408435" cy="408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flat color outline icon 10332153 PNG" id="276" name="Google Shape;27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56161" y="4823278"/>
            <a:ext cx="408435" cy="408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flat color outline icon 10332153 PNG" id="277" name="Google Shape;2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56161" y="5446478"/>
            <a:ext cx="408435" cy="408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2a6c2236b_0_38"/>
          <p:cNvSpPr/>
          <p:nvPr/>
        </p:nvSpPr>
        <p:spPr>
          <a:xfrm>
            <a:off x="425253" y="677504"/>
            <a:ext cx="5670600" cy="108000"/>
          </a:xfrm>
          <a:prstGeom prst="rect">
            <a:avLst/>
          </a:prstGeom>
          <a:solidFill>
            <a:srgbClr val="B4B63B"/>
          </a:solidFill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d2a6c2236b_0_38"/>
          <p:cNvSpPr txBox="1"/>
          <p:nvPr/>
        </p:nvSpPr>
        <p:spPr>
          <a:xfrm>
            <a:off x="344570" y="154284"/>
            <a:ext cx="745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l-PL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skills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d2a6c2236b_0_38"/>
          <p:cNvSpPr txBox="1"/>
          <p:nvPr/>
        </p:nvSpPr>
        <p:spPr>
          <a:xfrm>
            <a:off x="425253" y="905360"/>
            <a:ext cx="11480100" cy="4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l-PL" sz="1800" u="none" cap="none" strike="noStrike">
                <a:solidFill>
                  <a:srgbClr val="042125"/>
                </a:solidFill>
                <a:latin typeface="Arial"/>
                <a:ea typeface="Arial"/>
                <a:cs typeface="Arial"/>
                <a:sym typeface="Arial"/>
              </a:rPr>
              <a:t>Data modelling &amp; engineering</a:t>
            </a:r>
            <a:endParaRPr b="0" i="0" sz="1600" u="none" cap="none" strike="noStrike">
              <a:solidFill>
                <a:srgbClr val="0421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36195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l-PL"/>
              <a:t>Developing </a:t>
            </a:r>
            <a:r>
              <a:rPr b="1" lang="pl-PL">
                <a:solidFill>
                  <a:srgbClr val="808E90"/>
                </a:solidFill>
              </a:rPr>
              <a:t>custom web scrapers</a:t>
            </a:r>
            <a:r>
              <a:rPr lang="pl-PL"/>
              <a:t> to automate the extraction of public datasets and metadata.</a:t>
            </a:r>
            <a:endParaRPr/>
          </a:p>
          <a:p>
            <a:pPr indent="-171450" lvl="0" marL="36195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l-PL"/>
              <a:t>Preparing and </a:t>
            </a:r>
            <a:r>
              <a:rPr b="1" lang="pl-PL">
                <a:solidFill>
                  <a:srgbClr val="808E90"/>
                </a:solidFill>
              </a:rPr>
              <a:t>cleaning datasets</a:t>
            </a:r>
            <a:r>
              <a:rPr lang="pl-PL"/>
              <a:t> (synchronizing semi-annual series, mapping technical codes to human-readable labels).</a:t>
            </a:r>
            <a:endParaRPr/>
          </a:p>
          <a:p>
            <a:pPr indent="-171450" lvl="0" marL="36195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l-PL"/>
              <a:t>Executing systematic </a:t>
            </a:r>
            <a:r>
              <a:rPr b="1" lang="pl-PL">
                <a:solidFill>
                  <a:srgbClr val="808E90"/>
                </a:solidFill>
              </a:rPr>
              <a:t>missing-data audits</a:t>
            </a:r>
            <a:r>
              <a:rPr lang="pl-PL"/>
              <a:t> and diagnostic visualizations to maintain the structural integrity of the unified data model.</a:t>
            </a:r>
            <a:endParaRPr/>
          </a:p>
          <a:p>
            <a:pPr indent="-171450" lvl="0" marL="36195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l-PL"/>
              <a:t>Leveraging </a:t>
            </a:r>
            <a:r>
              <a:rPr b="1" lang="pl-PL">
                <a:solidFill>
                  <a:srgbClr val="808E90"/>
                </a:solidFill>
              </a:rPr>
              <a:t>AI-augmented development</a:t>
            </a:r>
            <a:r>
              <a:rPr lang="pl-PL"/>
              <a:t> while maintaining strict authorial oversight of analytical logic and visual proportions.</a:t>
            </a:r>
            <a:endParaRPr/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7791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l-PL" sz="1800" u="none" cap="none" strike="noStrike">
                <a:solidFill>
                  <a:srgbClr val="042125"/>
                </a:solidFill>
                <a:latin typeface="Arial"/>
                <a:ea typeface="Arial"/>
                <a:cs typeface="Arial"/>
                <a:sym typeface="Arial"/>
              </a:rPr>
              <a:t>Data visualization &amp; storytelling</a:t>
            </a:r>
            <a:endParaRPr b="0" i="0" sz="1800" u="none" cap="none" strike="noStrike">
              <a:solidFill>
                <a:srgbClr val="0421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439863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lang="pl-PL">
                <a:solidFill>
                  <a:srgbClr val="B4B63B"/>
                </a:solidFill>
              </a:rPr>
              <a:t>Imagining an interactive dashboard</a:t>
            </a:r>
            <a:r>
              <a:rPr lang="pl-PL"/>
              <a:t> with a custom-branded CSS design system for reporting.</a:t>
            </a:r>
            <a:endParaRPr/>
          </a:p>
          <a:p>
            <a:pPr indent="-180975" lvl="0" marL="1439863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l-PL"/>
              <a:t>Translating abstract statistics into a </a:t>
            </a:r>
            <a:r>
              <a:rPr b="1" lang="pl-PL">
                <a:solidFill>
                  <a:srgbClr val="B4B63B"/>
                </a:solidFill>
              </a:rPr>
              <a:t>strategic lobbyist narrative</a:t>
            </a:r>
            <a:r>
              <a:rPr lang="pl-PL"/>
              <a:t> focused on affordability and decarbonization progress.</a:t>
            </a:r>
            <a:endParaRPr/>
          </a:p>
          <a:p>
            <a:pPr indent="-180975" lvl="0" marL="1439863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l-PL"/>
              <a:t>Utilizing </a:t>
            </a:r>
            <a:r>
              <a:rPr b="1" lang="pl-PL">
                <a:solidFill>
                  <a:srgbClr val="B4B63B"/>
                </a:solidFill>
              </a:rPr>
              <a:t>advanced visual analytics</a:t>
            </a:r>
            <a:r>
              <a:rPr lang="pl-PL"/>
              <a:t>, to identify high-yield investment opportunities and sectoral bottlenecks.</a:t>
            </a:r>
            <a:endParaRPr/>
          </a:p>
          <a:p>
            <a:pPr indent="-180975" lvl="0" marL="1439862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pl-PL"/>
              <a:t>Preparing comprehensive documentation to effectively </a:t>
            </a:r>
            <a:r>
              <a:rPr b="1" lang="pl-PL">
                <a:solidFill>
                  <a:srgbClr val="B4B63B"/>
                </a:solidFill>
              </a:rPr>
              <a:t>communicate methodology and limitations</a:t>
            </a:r>
            <a:r>
              <a:rPr lang="pl-PL"/>
              <a:t>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2025-10-24T08:49:32Z</dcterms:created>
  <dc:creator>Dominika D</dc:creator>
</cp:coreProperties>
</file>